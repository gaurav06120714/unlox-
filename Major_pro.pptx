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A1A2E"/>
                </a:solidFill>
                <a:latin typeface="Arial"/>
              </a:rPr>
              <a:t>Save-to-Share Ratio by Topic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Save-to-Share Ratio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Social
Anxiety</c:v>
                  </c:pt>
                  <c:pt idx="1">
                    <c:v>Loneliness</c:v>
                  </c:pt>
                  <c:pt idx="2">
                    <c:v>Self-
Doubt</c:v>
                  </c:pt>
                  <c:pt idx="3">
                    <c:v>Dating</c:v>
                  </c:pt>
                  <c:pt idx="4">
                    <c:v>Motivation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1.72</c:v>
                </c:pt>
                <c:pt idx="1">
                  <c:v>1.54</c:v>
                </c:pt>
                <c:pt idx="2">
                  <c:v>1.41</c:v>
                </c:pt>
                <c:pt idx="3">
                  <c:v>1.18</c:v>
                </c:pt>
                <c:pt idx="4">
                  <c:v>1.05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1D9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A1A2E"/>
                </a:solidFill>
                <a:latin typeface="Arial"/>
              </a:rPr>
              <a:t>Follower Growth — 8 Weeks (Test Period)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Followers</c:v>
                </c:pt>
              </c:strCache>
            </c:strRef>
          </c:tx>
          <c:spPr>
            <a:solidFill>
              <a:srgbClr val="1E3A5F"/>
            </a:solidFill>
            <a:ln w="31750" cap="flat">
              <a:solidFill>
                <a:srgbClr val="1E3A5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3A5F"/>
              </a:solidFill>
              <a:ln w="9525" cap="flat">
                <a:solidFill>
                  <a:srgbClr val="1E3A5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  <c:pt idx="6">
                    <c:v>W7</c:v>
                  </c:pt>
                  <c:pt idx="7">
                    <c:v>W8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210</c:v>
                </c:pt>
                <c:pt idx="1">
                  <c:v>390</c:v>
                </c:pt>
                <c:pt idx="2">
                  <c:v>530</c:v>
                </c:pt>
                <c:pt idx="3">
                  <c:v>880</c:v>
                </c:pt>
                <c:pt idx="4">
                  <c:v>1240</c:v>
                </c:pt>
                <c:pt idx="5">
                  <c:v>1780</c:v>
                </c:pt>
                <c:pt idx="6">
                  <c:v>2310</c:v>
                </c:pt>
                <c:pt idx="7">
                  <c:v>2840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1D9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A1A2E"/>
                </a:solidFill>
                <a:latin typeface="Arial"/>
              </a:rPr>
              <a:t>Mean Viral Coefficient by Topic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Viral Coefficient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Social Anxiety</c:v>
                  </c:pt>
                  <c:pt idx="1">
                    <c:v>Loneliness</c:v>
                  </c:pt>
                  <c:pt idx="2">
                    <c:v>Self-Doubt</c:v>
                  </c:pt>
                  <c:pt idx="3">
                    <c:v>Body Image</c:v>
                  </c:pt>
                  <c:pt idx="4">
                    <c:v>Dating</c:v>
                  </c:pt>
                  <c:pt idx="5">
                    <c:v>Motivation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0.88</c:v>
                </c:pt>
                <c:pt idx="1">
                  <c:v>0.78</c:v>
                </c:pt>
                <c:pt idx="2">
                  <c:v>0.76</c:v>
                </c:pt>
                <c:pt idx="3">
                  <c:v>0.71</c:v>
                </c:pt>
                <c:pt idx="4">
                  <c:v>0.62</c:v>
                </c:pt>
                <c:pt idx="5">
                  <c:v>0.55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1D9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"/>
            <a:ext cx="347472" cy="5093208"/>
          </a:xfrm>
          <a:prstGeom prst="rect">
            <a:avLst/>
          </a:prstGeom>
          <a:solidFill>
            <a:srgbClr val="2C4770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02920"/>
            <a:ext cx="2011680" cy="274320"/>
          </a:xfrm>
          <a:prstGeom prst="rect">
            <a:avLst>
              <a:gd name="adj" fmla="val 13333"/>
            </a:avLst>
          </a:prstGeom>
          <a:solidFill>
            <a:srgbClr val="2E86C1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502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MAJOR PROJECT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Social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02920" y="1664208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8B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Initiative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02920" y="2578608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the Science of Relatability through Advanced Statistical Modeling &amp; NLP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3127248"/>
            <a:ext cx="5943600" cy="22860"/>
          </a:xfrm>
          <a:prstGeom prst="rect">
            <a:avLst/>
          </a:prstGeom>
          <a:solidFill>
            <a:srgbClr val="2C477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2461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B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02920" y="343814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79192" y="32461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B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679192" y="343814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gauravganeshteegulla@gmail.com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855464" y="32461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B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855464" y="343814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Unlox Academy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031736" y="32461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B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7031736" y="343814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Analytics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5294A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4965192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Unlox Academy  ·  Academic Year 2024–25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50392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8FAF"/>
                </a:solidFill>
              </a:rPr>
              <a:t>1 / 16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18288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420624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1014984"/>
            <a:ext cx="1097280" cy="3200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9651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Social Engagement Initiative  ·  Gaurav  ·  Unlox Academy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50392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47472" y="1234440"/>
            <a:ext cx="4206240" cy="713232"/>
          </a:xfrm>
          <a:prstGeom prst="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234440"/>
            <a:ext cx="502920" cy="713232"/>
          </a:xfrm>
          <a:prstGeom prst="rect">
            <a:avLst>
              <a:gd name="adj" fmla="val 9091"/>
            </a:avLst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123444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1832" y="130759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41832" y="160020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Objective, problem statement, scope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82312" y="1234440"/>
            <a:ext cx="4206240" cy="713232"/>
          </a:xfrm>
          <a:prstGeom prst="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2312" y="1234440"/>
            <a:ext cx="502920" cy="713232"/>
          </a:xfrm>
          <a:prstGeom prst="rect">
            <a:avLst>
              <a:gd name="adj" fmla="val 9091"/>
            </a:avLst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4782312" y="123444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376672" y="130759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376672" y="160020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&amp; module breakdown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7472" y="2084832"/>
            <a:ext cx="4206240" cy="713232"/>
          </a:xfrm>
          <a:prstGeom prst="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2084832"/>
            <a:ext cx="502920" cy="713232"/>
          </a:xfrm>
          <a:prstGeom prst="rect">
            <a:avLst>
              <a:gd name="adj" fmla="val 9091"/>
            </a:avLst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2084832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41832" y="215798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 (1–4)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41832" y="245059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extraction, virality, NLP, A/B testing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82312" y="2084832"/>
            <a:ext cx="4206240" cy="713232"/>
          </a:xfrm>
          <a:prstGeom prst="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82312" y="2084832"/>
            <a:ext cx="502920" cy="713232"/>
          </a:xfrm>
          <a:prstGeom prst="rect">
            <a:avLst>
              <a:gd name="adj" fmla="val 9091"/>
            </a:avLst>
          </a:prstGeom>
          <a:solidFill>
            <a:srgbClr val="1E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4782312" y="2084832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376672" y="215798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 (5–7)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376672" y="245059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Recommender, dashboard, trend forecasting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7472" y="2935224"/>
            <a:ext cx="4206240" cy="713232"/>
          </a:xfrm>
          <a:prstGeom prst="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" y="2935224"/>
            <a:ext cx="502920" cy="713232"/>
          </a:xfrm>
          <a:prstGeom prst="rect">
            <a:avLst>
              <a:gd name="adj" fmla="val 9091"/>
            </a:avLst>
          </a:prstGeom>
          <a:solidFill>
            <a:srgbClr val="1E3A5F"/>
          </a:solidFill>
          <a:ln/>
        </p:spPr>
      </p:sp>
      <p:sp>
        <p:nvSpPr>
          <p:cNvPr id="31" name="Text 29"/>
          <p:cNvSpPr/>
          <p:nvPr/>
        </p:nvSpPr>
        <p:spPr>
          <a:xfrm>
            <a:off x="347472" y="2935224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41832" y="300837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 &amp; Database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41832" y="330098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choices &amp; relational schema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82312" y="2935224"/>
            <a:ext cx="4206240" cy="713232"/>
          </a:xfrm>
          <a:prstGeom prst="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82312" y="2935224"/>
            <a:ext cx="502920" cy="713232"/>
          </a:xfrm>
          <a:prstGeom prst="rect">
            <a:avLst>
              <a:gd name="adj" fmla="val 9091"/>
            </a:avLst>
          </a:prstGeom>
          <a:solidFill>
            <a:srgbClr val="1E3A5F"/>
          </a:solidFill>
          <a:ln/>
        </p:spPr>
      </p:sp>
      <p:sp>
        <p:nvSpPr>
          <p:cNvPr id="36" name="Text 34"/>
          <p:cNvSpPr/>
          <p:nvPr/>
        </p:nvSpPr>
        <p:spPr>
          <a:xfrm>
            <a:off x="4782312" y="2935224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376672" y="300837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Results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376672" y="330098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Timeline, sample outputs, performance metrics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47472" y="3785616"/>
            <a:ext cx="4206240" cy="713232"/>
          </a:xfrm>
          <a:prstGeom prst="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7472" y="3785616"/>
            <a:ext cx="502920" cy="713232"/>
          </a:xfrm>
          <a:prstGeom prst="rect">
            <a:avLst>
              <a:gd name="adj" fmla="val 9091"/>
            </a:avLst>
          </a:prstGeom>
          <a:solidFill>
            <a:srgbClr val="1E3A5F"/>
          </a:solidFill>
          <a:ln/>
        </p:spPr>
      </p:sp>
      <p:sp>
        <p:nvSpPr>
          <p:cNvPr id="41" name="Text 39"/>
          <p:cNvSpPr/>
          <p:nvPr/>
        </p:nvSpPr>
        <p:spPr>
          <a:xfrm>
            <a:off x="347472" y="3785616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941832" y="385876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Future Scope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941832" y="415137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Limitations, improvements, and roadmap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82312" y="3785616"/>
            <a:ext cx="4206240" cy="713232"/>
          </a:xfrm>
          <a:prstGeom prst="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82312" y="3785616"/>
            <a:ext cx="502920" cy="713232"/>
          </a:xfrm>
          <a:prstGeom prst="rect">
            <a:avLst>
              <a:gd name="adj" fmla="val 9091"/>
            </a:avLst>
          </a:prstGeom>
          <a:solidFill>
            <a:srgbClr val="1E3A5F"/>
          </a:solidFill>
          <a:ln/>
        </p:spPr>
      </p:sp>
      <p:sp>
        <p:nvSpPr>
          <p:cNvPr id="46" name="Text 44"/>
          <p:cNvSpPr/>
          <p:nvPr/>
        </p:nvSpPr>
        <p:spPr>
          <a:xfrm>
            <a:off x="4782312" y="3785616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5376672" y="385876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&amp; Conclusion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5376672" y="415137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Outputs, learning outcomes, summary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18288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420624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1014984"/>
            <a:ext cx="1097280" cy="3200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9651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Social Engagement Initiative  ·  Gaurav  ·  Unlox Academy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50392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47472" y="1143000"/>
            <a:ext cx="8412480" cy="749808"/>
          </a:xfrm>
          <a:prstGeom prst="rect">
            <a:avLst>
              <a:gd name="adj" fmla="val 6098"/>
            </a:avLst>
          </a:prstGeom>
          <a:solidFill>
            <a:srgbClr val="EBF2FA"/>
          </a:solidFill>
          <a:ln w="15240">
            <a:solidFill>
              <a:srgbClr val="2E86C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143000"/>
            <a:ext cx="64008" cy="74980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1887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1408176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creators on social media rely heavily on guesswork when deciding what topics, formats, and posting times generate the most genuine audience engagement. There is no systematic, data-backed framework to identify what truly resonates with audiences at an emotional level.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" y="2029968"/>
            <a:ext cx="2670048" cy="2697480"/>
          </a:xfrm>
          <a:prstGeom prst="rect">
            <a:avLst>
              <a:gd name="adj" fmla="val 1712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2029968"/>
            <a:ext cx="2670048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212140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" y="2542032"/>
            <a:ext cx="91440" cy="914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249631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unified analytics ecosystem for social content strategy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4632" y="3054096"/>
            <a:ext cx="91440" cy="914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3008376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intuition with statistical evidence and NLP-driven insight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4632" y="3566160"/>
            <a:ext cx="91440" cy="914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352044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emotional resonance and quantify 'relatability' at scale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4632" y="4078224"/>
            <a:ext cx="91440" cy="914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4032504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optimal topics, formats, and timing per week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163824" y="2029968"/>
            <a:ext cx="2670048" cy="2697480"/>
          </a:xfrm>
          <a:prstGeom prst="rect">
            <a:avLst>
              <a:gd name="adj" fmla="val 1712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63824" y="2029968"/>
            <a:ext cx="2670048" cy="7315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6" name="Text 24"/>
          <p:cNvSpPr/>
          <p:nvPr/>
        </p:nvSpPr>
        <p:spPr>
          <a:xfrm>
            <a:off x="3291840" y="212140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300984" y="2542032"/>
            <a:ext cx="91440" cy="9144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28" name="Text 26"/>
          <p:cNvSpPr/>
          <p:nvPr/>
        </p:nvSpPr>
        <p:spPr>
          <a:xfrm>
            <a:off x="3474720" y="249631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Platforms: Instagram &amp; YouTube (public content)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00984" y="3054096"/>
            <a:ext cx="91440" cy="9144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30" name="Text 28"/>
          <p:cNvSpPr/>
          <p:nvPr/>
        </p:nvSpPr>
        <p:spPr>
          <a:xfrm>
            <a:off x="3474720" y="3008376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Shares, Saves, Retention Rate, Comments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300984" y="3566160"/>
            <a:ext cx="91440" cy="9144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32" name="Text 30"/>
          <p:cNvSpPr/>
          <p:nvPr/>
        </p:nvSpPr>
        <p:spPr>
          <a:xfrm>
            <a:off x="3474720" y="352044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analysis on user comment datasets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300984" y="4078224"/>
            <a:ext cx="91440" cy="9144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34" name="Text 32"/>
          <p:cNvSpPr/>
          <p:nvPr/>
        </p:nvSpPr>
        <p:spPr>
          <a:xfrm>
            <a:off x="3474720" y="4032504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on content format variables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980176" y="2029968"/>
            <a:ext cx="2670048" cy="2697480"/>
          </a:xfrm>
          <a:prstGeom prst="rect">
            <a:avLst>
              <a:gd name="adj" fmla="val 1712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80176" y="2029968"/>
            <a:ext cx="2670048" cy="73152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37" name="Text 35"/>
          <p:cNvSpPr/>
          <p:nvPr/>
        </p:nvSpPr>
        <p:spPr>
          <a:xfrm>
            <a:off x="6108192" y="212140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17336" y="2542032"/>
            <a:ext cx="91440" cy="91440"/>
          </a:xfrm>
          <a:prstGeom prst="ellipse">
            <a:avLst/>
          </a:prstGeom>
          <a:solidFill>
            <a:srgbClr val="1A7A4A"/>
          </a:solidFill>
          <a:ln/>
        </p:spPr>
      </p:sp>
      <p:sp>
        <p:nvSpPr>
          <p:cNvPr id="39" name="Text 37"/>
          <p:cNvSpPr/>
          <p:nvPr/>
        </p:nvSpPr>
        <p:spPr>
          <a:xfrm>
            <a:off x="6291072" y="249631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real Data Science to a creative domain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17336" y="3054096"/>
            <a:ext cx="91440" cy="91440"/>
          </a:xfrm>
          <a:prstGeom prst="ellipse">
            <a:avLst/>
          </a:prstGeom>
          <a:solidFill>
            <a:srgbClr val="1A7A4A"/>
          </a:solidFill>
          <a:ln/>
        </p:spPr>
      </p:sp>
      <p:sp>
        <p:nvSpPr>
          <p:cNvPr id="41" name="Text 39"/>
          <p:cNvSpPr/>
          <p:nvPr/>
        </p:nvSpPr>
        <p:spPr>
          <a:xfrm>
            <a:off x="6291072" y="3008376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full ML pipeline: collection → insight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117336" y="3566160"/>
            <a:ext cx="91440" cy="91440"/>
          </a:xfrm>
          <a:prstGeom prst="ellipse">
            <a:avLst/>
          </a:prstGeom>
          <a:solidFill>
            <a:srgbClr val="1A7A4A"/>
          </a:solidFill>
          <a:ln/>
        </p:spPr>
      </p:sp>
      <p:sp>
        <p:nvSpPr>
          <p:cNvPr id="43" name="Text 41"/>
          <p:cNvSpPr/>
          <p:nvPr/>
        </p:nvSpPr>
        <p:spPr>
          <a:xfrm>
            <a:off x="6291072" y="352044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gap between analytics and content creation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117336" y="4078224"/>
            <a:ext cx="91440" cy="91440"/>
          </a:xfrm>
          <a:prstGeom prst="ellipse">
            <a:avLst/>
          </a:prstGeom>
          <a:solidFill>
            <a:srgbClr val="1A7A4A"/>
          </a:solidFill>
          <a:ln/>
        </p:spPr>
      </p:sp>
      <p:sp>
        <p:nvSpPr>
          <p:cNvPr id="45" name="Text 43"/>
          <p:cNvSpPr/>
          <p:nvPr/>
        </p:nvSpPr>
        <p:spPr>
          <a:xfrm>
            <a:off x="6291072" y="4032504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to any niche or social platform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18288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420624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End-to-End Pipeline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1014984"/>
            <a:ext cx="1097280" cy="3200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9651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Social Engagement Initiative  ·  Gaurav  ·  Unlox Academy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50392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47472" y="1325880"/>
            <a:ext cx="1444752" cy="1005840"/>
          </a:xfrm>
          <a:prstGeom prst="rect">
            <a:avLst>
              <a:gd name="adj" fmla="val 5455"/>
            </a:avLst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1399032"/>
            <a:ext cx="14447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" y="1984248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&amp; Scraping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865376" y="1783080"/>
            <a:ext cx="201168" cy="27432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3" name="Text 11"/>
          <p:cNvSpPr/>
          <p:nvPr/>
        </p:nvSpPr>
        <p:spPr>
          <a:xfrm>
            <a:off x="1975104" y="1673352"/>
            <a:ext cx="137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›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139696" y="1325880"/>
            <a:ext cx="1444752" cy="1005840"/>
          </a:xfrm>
          <a:prstGeom prst="rect">
            <a:avLst>
              <a:gd name="adj" fmla="val 5455"/>
            </a:avLst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2139696" y="1399032"/>
            <a:ext cx="14447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Cleaning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39696" y="1984248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+ Pandas ETL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0" y="1783080"/>
            <a:ext cx="201168" cy="27432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8" name="Text 16"/>
          <p:cNvSpPr/>
          <p:nvPr/>
        </p:nvSpPr>
        <p:spPr>
          <a:xfrm>
            <a:off x="3767328" y="1673352"/>
            <a:ext cx="137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›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931920" y="1325880"/>
            <a:ext cx="1444752" cy="1005840"/>
          </a:xfrm>
          <a:prstGeom prst="rect">
            <a:avLst>
              <a:gd name="adj" fmla="val 5455"/>
            </a:avLst>
          </a:prstGeom>
          <a:solidFill>
            <a:srgbClr val="2E86C1"/>
          </a:solidFill>
          <a:ln/>
        </p:spPr>
      </p:sp>
      <p:sp>
        <p:nvSpPr>
          <p:cNvPr id="20" name="Text 18"/>
          <p:cNvSpPr/>
          <p:nvPr/>
        </p:nvSpPr>
        <p:spPr>
          <a:xfrm>
            <a:off x="3931920" y="1399032"/>
            <a:ext cx="14447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31920" y="1984248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NLTK, TextBlob, spaCy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449824" y="1783080"/>
            <a:ext cx="201168" cy="27432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3" name="Text 21"/>
          <p:cNvSpPr/>
          <p:nvPr/>
        </p:nvSpPr>
        <p:spPr>
          <a:xfrm>
            <a:off x="5559552" y="1673352"/>
            <a:ext cx="137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›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724144" y="1325880"/>
            <a:ext cx="1444752" cy="1005840"/>
          </a:xfrm>
          <a:prstGeom prst="rect">
            <a:avLst>
              <a:gd name="adj" fmla="val 5455"/>
            </a:avLst>
          </a:prstGeom>
          <a:solidFill>
            <a:srgbClr val="2E86C1"/>
          </a:solidFill>
          <a:ln/>
        </p:spPr>
      </p:sp>
      <p:sp>
        <p:nvSpPr>
          <p:cNvPr id="25" name="Text 23"/>
          <p:cNvSpPr/>
          <p:nvPr/>
        </p:nvSpPr>
        <p:spPr>
          <a:xfrm>
            <a:off x="5724144" y="1399032"/>
            <a:ext cx="14447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24144" y="1984248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Scikit-learn, NumPy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242048" y="1783080"/>
            <a:ext cx="201168" cy="27432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8" name="Text 26"/>
          <p:cNvSpPr/>
          <p:nvPr/>
        </p:nvSpPr>
        <p:spPr>
          <a:xfrm>
            <a:off x="7351776" y="1673352"/>
            <a:ext cx="137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›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516368" y="1325880"/>
            <a:ext cx="1444752" cy="1005840"/>
          </a:xfrm>
          <a:prstGeom prst="rect">
            <a:avLst>
              <a:gd name="adj" fmla="val 5455"/>
            </a:avLst>
          </a:prstGeom>
          <a:solidFill>
            <a:srgbClr val="1E3A5F"/>
          </a:solidFill>
          <a:ln/>
        </p:spPr>
      </p:sp>
      <p:sp>
        <p:nvSpPr>
          <p:cNvPr id="30" name="Text 28"/>
          <p:cNvSpPr/>
          <p:nvPr/>
        </p:nvSpPr>
        <p:spPr>
          <a:xfrm>
            <a:off x="7516368" y="1399032"/>
            <a:ext cx="14447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Report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516368" y="1984248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Streamlit, Tableau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47472" y="2459736"/>
            <a:ext cx="144475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metrics: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Views, Shares,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Saves, Comments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139696" y="2459736"/>
            <a:ext cx="144475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tables: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content_posts,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performance_metrics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931920" y="2459736"/>
            <a:ext cx="144475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Tagged comments: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RELATABLE /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+ scores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724144" y="2459736"/>
            <a:ext cx="144475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Coefficient,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winners,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forecast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516368" y="2459736"/>
            <a:ext cx="144475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report,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charts,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recommendations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47472" y="3310128"/>
            <a:ext cx="8412480" cy="22860"/>
          </a:xfrm>
          <a:prstGeom prst="rect">
            <a:avLst/>
          </a:prstGeom>
          <a:solidFill>
            <a:srgbClr val="D1D9E6"/>
          </a:solidFill>
          <a:ln/>
        </p:spPr>
      </p:sp>
      <p:sp>
        <p:nvSpPr>
          <p:cNvPr id="38" name="Text 36"/>
          <p:cNvSpPr/>
          <p:nvPr/>
        </p:nvSpPr>
        <p:spPr>
          <a:xfrm>
            <a:off x="347472" y="33832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Feedback Loop — Model retrains weekly as new performance data is ingested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47472" y="3703320"/>
            <a:ext cx="8412480" cy="100584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37673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02920" y="4078224"/>
            <a:ext cx="91440" cy="9144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42" name="Text 40"/>
          <p:cNvSpPr/>
          <p:nvPr/>
        </p:nvSpPr>
        <p:spPr>
          <a:xfrm>
            <a:off x="676656" y="4041648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 — each component can run independently or as part of the pipeline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02920" y="4334256"/>
            <a:ext cx="91440" cy="9144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44" name="Text 42"/>
          <p:cNvSpPr/>
          <p:nvPr/>
        </p:nvSpPr>
        <p:spPr>
          <a:xfrm>
            <a:off x="676656" y="429768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Database-first design ensures all raw and processed data is preserved for future retraining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02920" y="4590288"/>
            <a:ext cx="91440" cy="9144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46" name="Text 44"/>
          <p:cNvSpPr/>
          <p:nvPr/>
        </p:nvSpPr>
        <p:spPr>
          <a:xfrm>
            <a:off x="676656" y="4553712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and statistical models are decoupled so either can be upgraded without breaking the pipeline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18288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420624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&amp; 2 — Data Extraction &amp; Virality Prediction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1014984"/>
            <a:ext cx="1097280" cy="3200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9651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Social Engagement Initiative  ·  Gaurav  ·  Unlox Academy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50392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47472" y="1143000"/>
            <a:ext cx="4114800" cy="3566160"/>
          </a:xfrm>
          <a:prstGeom prst="rect">
            <a:avLst>
              <a:gd name="adj" fmla="val 1282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143000"/>
            <a:ext cx="4114800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12435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Content Performance Tracker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5488" y="15087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 Engine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" y="1783080"/>
            <a:ext cx="3840480" cy="402336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1810512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316736" y="1810512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Graph API &amp; YouTube Data API v3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" y="2240280"/>
            <a:ext cx="38404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267712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316736" y="2267712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+ BeautifulSoup web scraping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" y="2697480"/>
            <a:ext cx="3840480" cy="402336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724912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316736" y="2724912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Views, Shares, Saves, Retention Rate, Comments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" y="3154680"/>
            <a:ext cx="38404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182112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316736" y="3182112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CSV logs → loaded into MySQL tables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" y="3611880"/>
            <a:ext cx="3840480" cy="402336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3639312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316736" y="3639312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cron job runs every 24 hours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" y="4069080"/>
            <a:ext cx="38404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4096512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316736" y="4096512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detection with exponential backoff retry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1143000"/>
            <a:ext cx="4114800" cy="3566160"/>
          </a:xfrm>
          <a:prstGeom prst="rect">
            <a:avLst>
              <a:gd name="adj" fmla="val 1282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1143000"/>
            <a:ext cx="4114800" cy="5486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3" name="Text 31"/>
          <p:cNvSpPr/>
          <p:nvPr/>
        </p:nvSpPr>
        <p:spPr>
          <a:xfrm>
            <a:off x="4791456" y="12435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Virality Prediction Engine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791456" y="15087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Modeling of Content Spread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91456" y="1764792"/>
            <a:ext cx="3840480" cy="566928"/>
          </a:xfrm>
          <a:prstGeom prst="rect">
            <a:avLst>
              <a:gd name="adj" fmla="val 8065"/>
            </a:avLst>
          </a:prstGeom>
          <a:solidFill>
            <a:srgbClr val="1E3A5F"/>
          </a:solidFill>
          <a:ln/>
        </p:spPr>
      </p:sp>
      <p:sp>
        <p:nvSpPr>
          <p:cNvPr id="36" name="Text 34"/>
          <p:cNvSpPr/>
          <p:nvPr/>
        </p:nvSpPr>
        <p:spPr>
          <a:xfrm>
            <a:off x="4892040" y="179222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Coefficient (VC) Formula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892040" y="197510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VC = (0.4 × Shares + 0.4 × Saves + 0.2 × Comments) / Views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91456" y="2450592"/>
            <a:ext cx="91440" cy="9144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39" name="Text 37"/>
          <p:cNvSpPr/>
          <p:nvPr/>
        </p:nvSpPr>
        <p:spPr>
          <a:xfrm>
            <a:off x="4974336" y="24048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and Shares are weighted 2× higher than Comments — passive Likes are excluded as they carry no intent signal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91456" y="2962656"/>
            <a:ext cx="91440" cy="9144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41" name="Text 39"/>
          <p:cNvSpPr/>
          <p:nvPr/>
        </p:nvSpPr>
        <p:spPr>
          <a:xfrm>
            <a:off x="4974336" y="291693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content piece receives a VC score (0–1). Scores above 0.70 are classified as High-Viral candidates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91456" y="3474720"/>
            <a:ext cx="91440" cy="9144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43" name="Text 41"/>
          <p:cNvSpPr/>
          <p:nvPr/>
        </p:nvSpPr>
        <p:spPr>
          <a:xfrm>
            <a:off x="4974336" y="3429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comparison matrix: Social Anxiety, Motivation, Loneliness, Dating — ranked by mean weekly VC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91456" y="3986784"/>
            <a:ext cx="91440" cy="9144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45" name="Text 43"/>
          <p:cNvSpPr/>
          <p:nvPr/>
        </p:nvSpPr>
        <p:spPr>
          <a:xfrm>
            <a:off x="4974336" y="394106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outputs a ranked weekly topic table fed directly into the Recommender module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18288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420624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Audience Sentiment Analyzer (NLP)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1014984"/>
            <a:ext cx="1097280" cy="3200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9651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Social Engagement Initiative  ·  Gaurav  ·  Unlox Academy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50392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47472" y="1261872"/>
            <a:ext cx="347472" cy="34747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1261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" y="1609344"/>
            <a:ext cx="18288" cy="384048"/>
          </a:xfrm>
          <a:prstGeom prst="rect">
            <a:avLst/>
          </a:prstGeom>
          <a:solidFill>
            <a:srgbClr val="D1D9E6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24358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Ingestion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" y="1463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raw comments via API. Filter spam, bots, and duplicates. Store in user_comments table.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" y="1965960"/>
            <a:ext cx="347472" cy="34747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" y="1965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2064" y="2313432"/>
            <a:ext cx="18288" cy="384048"/>
          </a:xfrm>
          <a:prstGeom prst="rect">
            <a:avLst/>
          </a:prstGeom>
          <a:solidFill>
            <a:srgbClr val="D1D9E6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194767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" y="216712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Tokenization, stopword removal, and lemmatization using NLTK and spaCy pipelines.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7472" y="2670048"/>
            <a:ext cx="347472" cy="34747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" y="2670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2064" y="3017520"/>
            <a:ext cx="18288" cy="384048"/>
          </a:xfrm>
          <a:prstGeom prst="rect">
            <a:avLst/>
          </a:prstGeom>
          <a:solidFill>
            <a:srgbClr val="D1D9E6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265176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Scoring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" y="287121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TextBlob polarity combined with a custom emotional lexicon tuned for social media language.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7472" y="3374136"/>
            <a:ext cx="347472" cy="34747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" y="3374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12064" y="3721608"/>
            <a:ext cx="18288" cy="384048"/>
          </a:xfrm>
          <a:prstGeom prst="rect">
            <a:avLst/>
          </a:prstGeom>
          <a:solidFill>
            <a:srgbClr val="D1D9E6"/>
          </a:solidFill>
          <a:ln/>
        </p:spPr>
      </p:sp>
      <p:sp>
        <p:nvSpPr>
          <p:cNvPr id="27" name="Text 25"/>
          <p:cNvSpPr/>
          <p:nvPr/>
        </p:nvSpPr>
        <p:spPr>
          <a:xfrm>
            <a:off x="804672" y="335584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Classification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4672" y="357530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classification: RELATABLE (score ≥ 0.65) or NEUTRAL. Threshold tuned on validation set.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7472" y="4078224"/>
            <a:ext cx="347472" cy="34747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0" name="Text 28"/>
          <p:cNvSpPr/>
          <p:nvPr/>
        </p:nvSpPr>
        <p:spPr>
          <a:xfrm>
            <a:off x="347472" y="4078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4672" y="405993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Awareness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4672" y="42793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+ keyword detection for linguistic triggers: 'I feel', 'same here', 'literally me', 'this is me'.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17720" y="1143000"/>
            <a:ext cx="4160520" cy="3566160"/>
          </a:xfrm>
          <a:prstGeom prst="rect">
            <a:avLst>
              <a:gd name="adj" fmla="val 1282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123444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Model Output — Tagged Comments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17720" y="1536192"/>
            <a:ext cx="4160520" cy="22860"/>
          </a:xfrm>
          <a:prstGeom prst="rect">
            <a:avLst/>
          </a:prstGeom>
          <a:solidFill>
            <a:srgbClr val="D1D9E6"/>
          </a:solidFill>
          <a:ln/>
        </p:spPr>
      </p:sp>
      <p:sp>
        <p:nvSpPr>
          <p:cNvPr id="36" name="Text 34"/>
          <p:cNvSpPr/>
          <p:nvPr/>
        </p:nvSpPr>
        <p:spPr>
          <a:xfrm>
            <a:off x="4709160" y="158191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(excerpt)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132320" y="158191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138160" y="158191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17720" y="1883664"/>
            <a:ext cx="4160520" cy="3657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40" name="Text 38"/>
          <p:cNvSpPr/>
          <p:nvPr/>
        </p:nvSpPr>
        <p:spPr>
          <a:xfrm>
            <a:off x="4709160" y="19385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is literally me lol"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150608" y="1956816"/>
            <a:ext cx="822960" cy="219456"/>
          </a:xfrm>
          <a:prstGeom prst="rect">
            <a:avLst>
              <a:gd name="adj" fmla="val 16667"/>
            </a:avLst>
          </a:prstGeom>
          <a:solidFill>
            <a:srgbClr val="E8F5EE"/>
          </a:solidFill>
          <a:ln/>
        </p:spPr>
      </p:sp>
      <p:sp>
        <p:nvSpPr>
          <p:cNvPr id="42" name="Text 40"/>
          <p:cNvSpPr/>
          <p:nvPr/>
        </p:nvSpPr>
        <p:spPr>
          <a:xfrm>
            <a:off x="7150608" y="194767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RELATABLE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8138160" y="193852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17720" y="2286000"/>
            <a:ext cx="41605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4709160" y="234086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thought I was the only one"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150608" y="2359152"/>
            <a:ext cx="822960" cy="219456"/>
          </a:xfrm>
          <a:prstGeom prst="rect">
            <a:avLst>
              <a:gd name="adj" fmla="val 16667"/>
            </a:avLst>
          </a:prstGeom>
          <a:solidFill>
            <a:srgbClr val="E8F5EE"/>
          </a:solidFill>
          <a:ln/>
        </p:spPr>
      </p:sp>
      <p:sp>
        <p:nvSpPr>
          <p:cNvPr id="47" name="Text 45"/>
          <p:cNvSpPr/>
          <p:nvPr/>
        </p:nvSpPr>
        <p:spPr>
          <a:xfrm>
            <a:off x="7150608" y="235000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RELATABLE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8138160" y="234086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617720" y="2688336"/>
            <a:ext cx="4160520" cy="3657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50" name="Text 48"/>
          <p:cNvSpPr/>
          <p:nvPr/>
        </p:nvSpPr>
        <p:spPr>
          <a:xfrm>
            <a:off x="4709160" y="27432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"Same energy every morning"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150608" y="2761488"/>
            <a:ext cx="822960" cy="219456"/>
          </a:xfrm>
          <a:prstGeom prst="rect">
            <a:avLst>
              <a:gd name="adj" fmla="val 16667"/>
            </a:avLst>
          </a:prstGeom>
          <a:solidFill>
            <a:srgbClr val="E8F5EE"/>
          </a:solidFill>
          <a:ln/>
        </p:spPr>
      </p:sp>
      <p:sp>
        <p:nvSpPr>
          <p:cNvPr id="52" name="Text 50"/>
          <p:cNvSpPr/>
          <p:nvPr/>
        </p:nvSpPr>
        <p:spPr>
          <a:xfrm>
            <a:off x="7150608" y="275234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RELATABLE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8138160" y="274320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617720" y="3090672"/>
            <a:ext cx="41605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4709160" y="314553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"Nice content, keep it up"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7150608" y="3163824"/>
            <a:ext cx="822960" cy="219456"/>
          </a:xfrm>
          <a:prstGeom prst="rect">
            <a:avLst>
              <a:gd name="adj" fmla="val 16667"/>
            </a:avLst>
          </a:prstGeom>
          <a:solidFill>
            <a:srgbClr val="EBF2FA"/>
          </a:solidFill>
          <a:ln/>
        </p:spPr>
      </p:sp>
      <p:sp>
        <p:nvSpPr>
          <p:cNvPr id="57" name="Text 55"/>
          <p:cNvSpPr/>
          <p:nvPr/>
        </p:nvSpPr>
        <p:spPr>
          <a:xfrm>
            <a:off x="7150608" y="315468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8138160" y="314553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617720" y="3493008"/>
            <a:ext cx="4160520" cy="3657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0" name="Text 58"/>
          <p:cNvSpPr/>
          <p:nvPr/>
        </p:nvSpPr>
        <p:spPr>
          <a:xfrm>
            <a:off x="4709160" y="354787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feel this every single day"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7150608" y="3566160"/>
            <a:ext cx="822960" cy="219456"/>
          </a:xfrm>
          <a:prstGeom prst="rect">
            <a:avLst>
              <a:gd name="adj" fmla="val 16667"/>
            </a:avLst>
          </a:prstGeom>
          <a:solidFill>
            <a:srgbClr val="E8F5EE"/>
          </a:solidFill>
          <a:ln/>
        </p:spPr>
      </p:sp>
      <p:sp>
        <p:nvSpPr>
          <p:cNvPr id="62" name="Text 60"/>
          <p:cNvSpPr/>
          <p:nvPr/>
        </p:nvSpPr>
        <p:spPr>
          <a:xfrm>
            <a:off x="7150608" y="355701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RELATABLE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8138160" y="354787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17720" y="3895344"/>
            <a:ext cx="41605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4709160" y="3950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"Interesting perspective"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7150608" y="3968496"/>
            <a:ext cx="822960" cy="219456"/>
          </a:xfrm>
          <a:prstGeom prst="rect">
            <a:avLst>
              <a:gd name="adj" fmla="val 16667"/>
            </a:avLst>
          </a:prstGeom>
          <a:solidFill>
            <a:srgbClr val="EBF2FA"/>
          </a:solidFill>
          <a:ln/>
        </p:spPr>
      </p:sp>
      <p:sp>
        <p:nvSpPr>
          <p:cNvPr id="67" name="Text 65"/>
          <p:cNvSpPr/>
          <p:nvPr/>
        </p:nvSpPr>
        <p:spPr>
          <a:xfrm>
            <a:off x="7150608" y="395935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8138160" y="395020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617720" y="4297680"/>
            <a:ext cx="4160520" cy="3657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70" name="Text 68"/>
          <p:cNvSpPr/>
          <p:nvPr/>
        </p:nvSpPr>
        <p:spPr>
          <a:xfrm>
            <a:off x="4709160" y="435254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helped me understand"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7150608" y="4370832"/>
            <a:ext cx="822960" cy="219456"/>
          </a:xfrm>
          <a:prstGeom prst="rect">
            <a:avLst>
              <a:gd name="adj" fmla="val 16667"/>
            </a:avLst>
          </a:prstGeom>
          <a:solidFill>
            <a:srgbClr val="E8F5EE"/>
          </a:solidFill>
          <a:ln/>
        </p:spPr>
      </p:sp>
      <p:sp>
        <p:nvSpPr>
          <p:cNvPr id="72" name="Text 70"/>
          <p:cNvSpPr/>
          <p:nvPr/>
        </p:nvSpPr>
        <p:spPr>
          <a:xfrm>
            <a:off x="7150608" y="436168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RELATABLE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8138160" y="435254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617720" y="4709160"/>
            <a:ext cx="4160520" cy="22860"/>
          </a:xfrm>
          <a:prstGeom prst="rect">
            <a:avLst/>
          </a:prstGeom>
          <a:solidFill>
            <a:srgbClr val="D1D9E6"/>
          </a:solidFill>
          <a:ln/>
        </p:spPr>
      </p:sp>
      <p:sp>
        <p:nvSpPr>
          <p:cNvPr id="75" name="Text 73"/>
          <p:cNvSpPr/>
          <p:nvPr/>
        </p:nvSpPr>
        <p:spPr>
          <a:xfrm>
            <a:off x="4663440" y="4736592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Accuracy: 87.4%   |   Precision: 0.89   |   F1-Score: 0.88  (on test set of 1,200 comments)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18288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420624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&amp; 5 — A/B Testing &amp; Optimization Recommender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1014984"/>
            <a:ext cx="1097280" cy="3200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9651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Social Engagement Initiative  ·  Gaurav  ·  Unlox Academy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50392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47472" y="12070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Framework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" y="1463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experiments to identify statistically significant engagement drivers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" y="1755648"/>
            <a:ext cx="4114800" cy="365760"/>
          </a:xfrm>
          <a:prstGeom prst="rect">
            <a:avLst/>
          </a:prstGeom>
          <a:solidFill>
            <a:srgbClr val="1E3A5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1810512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380744" y="181051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231136" y="181051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B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090672" y="18105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47472" y="2139696"/>
            <a:ext cx="4114800" cy="365760"/>
          </a:xfrm>
          <a:prstGeom prst="rect">
            <a:avLst/>
          </a:prstGeom>
          <a:solidFill>
            <a:srgbClr val="EBF2FA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219456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Format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380744" y="219456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(&lt; 60s)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31136" y="219456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(3–5 min)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090672" y="21945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Watch Time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7472" y="2523744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" y="2578608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Style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380744" y="257860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/ Scene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231136" y="257860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/ Question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090672" y="25786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3-Second Retention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7472" y="2907792"/>
            <a:ext cx="4114800" cy="365760"/>
          </a:xfrm>
          <a:prstGeom prst="rect">
            <a:avLst/>
          </a:prstGeom>
          <a:solidFill>
            <a:srgbClr val="EBF2FA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" y="2962656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Time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380744" y="2962656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6–9 AM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231136" y="29626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7–9 PM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090672" y="296265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Reach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47472" y="3291840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2336" y="3346704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Style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380744" y="3346704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CTA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231136" y="33467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Narrative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090672" y="334670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Rate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47472" y="3675888"/>
            <a:ext cx="4114800" cy="365760"/>
          </a:xfrm>
          <a:prstGeom prst="rect">
            <a:avLst/>
          </a:prstGeom>
          <a:solidFill>
            <a:srgbClr val="EBF2FA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2336" y="3730752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Thumbnail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380744" y="373075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Close-up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231136" y="373075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Overlay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090672" y="37307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Click-Through Rate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47472" y="420624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threshold: 0.05  ·  Minimum sample size per variant: 500 impressions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663440" y="1143000"/>
            <a:ext cx="4114800" cy="3566160"/>
          </a:xfrm>
          <a:prstGeom prst="rect">
            <a:avLst>
              <a:gd name="adj" fmla="val 1282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63440" y="1143000"/>
            <a:ext cx="4114800" cy="5486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4" name="Text 42"/>
          <p:cNvSpPr/>
          <p:nvPr/>
        </p:nvSpPr>
        <p:spPr>
          <a:xfrm>
            <a:off x="4791456" y="1234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Engagement Optimization Recommender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791456" y="149961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Prescriptive analytics engine — weekly strategy generation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791456" y="177393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Weekly Recommendation Output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91456" y="2048256"/>
            <a:ext cx="3840480" cy="493776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82896" y="208483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Topic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882896" y="224942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Anxiety / Overthinking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91456" y="2596896"/>
            <a:ext cx="38404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82896" y="263347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Format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882896" y="279806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Long-form video (3–4 min)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791456" y="3145536"/>
            <a:ext cx="3840480" cy="493776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82896" y="318211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Post Time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882896" y="334670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7:30 PM – 9:00 PM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791456" y="3694176"/>
            <a:ext cx="38404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82896" y="373075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Style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882896" y="389534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narrative format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791456" y="4242816"/>
            <a:ext cx="3840480" cy="493776"/>
          </a:xfrm>
          <a:prstGeom prst="rect">
            <a:avLst/>
          </a:prstGeom>
          <a:solidFill>
            <a:srgbClr val="F7F9FC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82896" y="427939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Viral Coeff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882896" y="444398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 — High Probability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18288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420624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&amp; 7 — Dashboard &amp; Trend Forecasting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1014984"/>
            <a:ext cx="1097280" cy="3200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9651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Social Engagement Initiative  ·  Gaurav  ·  Unlox Academy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50392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47472" y="1188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— Growth Visualization Dashboard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" y="1527048"/>
            <a:ext cx="1316736" cy="713232"/>
          </a:xfrm>
          <a:prstGeom prst="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1527048"/>
            <a:ext cx="1316736" cy="457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" y="1591056"/>
            <a:ext cx="13167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+2,840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7472" y="1920240"/>
            <a:ext cx="13167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 Growth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764792" y="1527048"/>
            <a:ext cx="1316736" cy="713232"/>
          </a:xfrm>
          <a:prstGeom prst="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64792" y="1527048"/>
            <a:ext cx="1316736" cy="457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1764792" y="1591056"/>
            <a:ext cx="13167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64792" y="1920240"/>
            <a:ext cx="13167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Viral Coeff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182112" y="1527048"/>
            <a:ext cx="1316736" cy="713232"/>
          </a:xfrm>
          <a:prstGeom prst="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82112" y="1527048"/>
            <a:ext cx="1316736" cy="457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3182112" y="1591056"/>
            <a:ext cx="13167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 : 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182112" y="1920240"/>
            <a:ext cx="13167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Save:Share Ratio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347472" y="2350008"/>
          <a:ext cx="4114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 20"/>
          <p:cNvSpPr/>
          <p:nvPr/>
        </p:nvSpPr>
        <p:spPr>
          <a:xfrm>
            <a:off x="4663440" y="1188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— Trend Forecasting Module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663440" y="14630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external signals to identify rising content opportunities before they peak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663440" y="1801368"/>
            <a:ext cx="4114800" cy="685800"/>
          </a:xfrm>
          <a:prstGeom prst="rect">
            <a:avLst>
              <a:gd name="adj" fmla="val 4000"/>
            </a:avLst>
          </a:prstGeom>
          <a:solidFill>
            <a:srgbClr val="EBF2FA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663440" y="1801368"/>
            <a:ext cx="54864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7" name="Text 24"/>
          <p:cNvSpPr/>
          <p:nvPr/>
        </p:nvSpPr>
        <p:spPr>
          <a:xfrm>
            <a:off x="4809744" y="182880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Hashtag Velocity Tracking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809744" y="20574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weekly growth rate of relevant hashtags on Instagram and YouTube to detect rising topics (≥ 40% weekly volume increase flagged as trending).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663440" y="2551176"/>
            <a:ext cx="4114800" cy="685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663440" y="2551176"/>
            <a:ext cx="54864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1" name="Text 28"/>
          <p:cNvSpPr/>
          <p:nvPr/>
        </p:nvSpPr>
        <p:spPr>
          <a:xfrm>
            <a:off x="4809744" y="257860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Volume Analysis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4809744" y="28072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search interest using keyword frequency data. Topics showing consistent upward momentum over 3 consecutive weeks are surfaced to the strategy layer.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4663440" y="3300984"/>
            <a:ext cx="4114800" cy="685800"/>
          </a:xfrm>
          <a:prstGeom prst="rect">
            <a:avLst>
              <a:gd name="adj" fmla="val 4000"/>
            </a:avLst>
          </a:prstGeom>
          <a:solidFill>
            <a:srgbClr val="EBF2FA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663440" y="3300984"/>
            <a:ext cx="54864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5" name="Text 32"/>
          <p:cNvSpPr/>
          <p:nvPr/>
        </p:nvSpPr>
        <p:spPr>
          <a:xfrm>
            <a:off x="4809744" y="332841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Benchmarking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4809744" y="355701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Scrapes top 20 similar-niche accounts to identify common themes in their highest-performing posts for the current week.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663440" y="4050792"/>
            <a:ext cx="4114800" cy="685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663440" y="4050792"/>
            <a:ext cx="54864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9" name="Text 36"/>
          <p:cNvSpPr/>
          <p:nvPr/>
        </p:nvSpPr>
        <p:spPr>
          <a:xfrm>
            <a:off x="4809744" y="407822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Forecast Report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4809744" y="430682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 ranked list of 5 predicted rising topics with projected VC scores — feeds into Module 5 for the next cycle's recommendation.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18288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420624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1014984"/>
            <a:ext cx="1097280" cy="3200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9651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Social Engagement Initiative  ·  Gaurav  ·  Unlox Academy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50392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47472" y="1143000"/>
            <a:ext cx="1828800" cy="292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" y="11612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0" y="1143000"/>
            <a:ext cx="2926080" cy="292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2377440" y="11612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/ Tools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03520" y="1143000"/>
            <a:ext cx="3474720" cy="292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5394960" y="11612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" y="1435608"/>
            <a:ext cx="8412480" cy="411480"/>
          </a:xfrm>
          <a:prstGeom prst="rect">
            <a:avLst/>
          </a:prstGeom>
          <a:solidFill>
            <a:srgbClr val="EBF2FA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1435608"/>
            <a:ext cx="54864" cy="4114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149961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286000" y="14996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(Requests, Selenium, BeautifulSoup)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03520" y="149961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scraping + official API integration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7472" y="1865376"/>
            <a:ext cx="8412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1865376"/>
            <a:ext cx="54864" cy="4114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192938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286000" y="192938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— Pandas, NumPy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303520" y="192938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vectorised operations on large tabular datasets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7472" y="2295144"/>
            <a:ext cx="8412480" cy="411480"/>
          </a:xfrm>
          <a:prstGeom prst="rect">
            <a:avLst/>
          </a:prstGeom>
          <a:solidFill>
            <a:srgbClr val="EBF2FA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" y="2295144"/>
            <a:ext cx="54864" cy="4114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23591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Text Analysis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286000" y="23591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NLTK, TextBlob, spaCy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303520" y="23591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NLP with custom lexicon support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47472" y="2724912"/>
            <a:ext cx="8412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" y="2724912"/>
            <a:ext cx="54864" cy="4114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27889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286000" y="27889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Scikit-learn (Random Forest, Logistic Reg.)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303520" y="2788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models suitable for academic reporting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47472" y="3154680"/>
            <a:ext cx="8412480" cy="411480"/>
          </a:xfrm>
          <a:prstGeom prst="rect">
            <a:avLst/>
          </a:prstGeom>
          <a:solidFill>
            <a:srgbClr val="EBF2FA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7472" y="3154680"/>
            <a:ext cx="54864" cy="4114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32186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286000" y="321868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 / PostgreSQL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303520" y="321868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model fits structured performance data well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47472" y="3584448"/>
            <a:ext cx="8412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47472" y="3584448"/>
            <a:ext cx="54864" cy="4114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364845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286000" y="364845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Tableau, Matplotlib, Seaborn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303520" y="364845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dashboard + in-notebook EDA charts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47472" y="4014216"/>
            <a:ext cx="8412480" cy="411480"/>
          </a:xfrm>
          <a:prstGeom prst="rect">
            <a:avLst/>
          </a:prstGeom>
          <a:solidFill>
            <a:srgbClr val="EBF2FA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47472" y="4014216"/>
            <a:ext cx="54864" cy="4114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407822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Frontend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286000" y="407822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303520" y="407822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Python-native web app with minimal boilerplate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47472" y="4443984"/>
            <a:ext cx="8412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7472" y="4443984"/>
            <a:ext cx="54864" cy="4114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52" name="Text 50"/>
          <p:cNvSpPr/>
          <p:nvPr/>
        </p:nvSpPr>
        <p:spPr>
          <a:xfrm>
            <a:off x="457200" y="45079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2286000" y="45079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&amp; GitHub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303520" y="450799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history documents iterative model improvements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18288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420624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— Relational Data Model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1014984"/>
            <a:ext cx="1097280" cy="3200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9651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Social Engagement Initiative  ·  Gaurav  ·  Unlox Academy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50392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47472" y="1143000"/>
            <a:ext cx="2743200" cy="1993392"/>
          </a:xfrm>
          <a:prstGeom prst="rect">
            <a:avLst>
              <a:gd name="adj" fmla="val 1835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143000"/>
            <a:ext cx="2743200" cy="292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1179576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content_posts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7472" y="1472184"/>
            <a:ext cx="2743200" cy="25603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50876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58368" y="1508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post_id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130552" y="1508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47472" y="1746504"/>
            <a:ext cx="274320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178308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58368" y="178308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130552" y="17830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VARCHAR(20)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47472" y="2020824"/>
            <a:ext cx="2743200" cy="25603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205740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58368" y="205740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post_type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130552" y="20574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47472" y="2295144"/>
            <a:ext cx="274320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" y="233172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58368" y="233172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topic_tag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130552" y="23317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VARCHAR(50)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47472" y="2569464"/>
            <a:ext cx="2743200" cy="25603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260604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58368" y="260604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published_at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130552" y="2606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47472" y="2843784"/>
            <a:ext cx="274320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384048" y="288036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58368" y="28803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video_length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130552" y="28803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246120" y="1143000"/>
            <a:ext cx="2743200" cy="1993392"/>
          </a:xfrm>
          <a:prstGeom prst="rect">
            <a:avLst>
              <a:gd name="adj" fmla="val 1835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46120" y="1143000"/>
            <a:ext cx="2743200" cy="292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8" name="Text 36"/>
          <p:cNvSpPr/>
          <p:nvPr/>
        </p:nvSpPr>
        <p:spPr>
          <a:xfrm>
            <a:off x="3337560" y="1179576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performance_metrics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46120" y="1472184"/>
            <a:ext cx="2743200" cy="25603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40" name="Text 38"/>
          <p:cNvSpPr/>
          <p:nvPr/>
        </p:nvSpPr>
        <p:spPr>
          <a:xfrm>
            <a:off x="3282696" y="150876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557016" y="1508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metric_id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029200" y="1508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246120" y="1746504"/>
            <a:ext cx="274320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3282696" y="178308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557016" y="178308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post_id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029200" y="17830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246120" y="2020824"/>
            <a:ext cx="2743200" cy="25603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48" name="Text 46"/>
          <p:cNvSpPr/>
          <p:nvPr/>
        </p:nvSpPr>
        <p:spPr>
          <a:xfrm>
            <a:off x="3282696" y="205740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557016" y="205740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029200" y="20574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BIGINT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246120" y="2295144"/>
            <a:ext cx="274320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3282696" y="233172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3557016" y="233172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029200" y="23317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3246120" y="2569464"/>
            <a:ext cx="2743200" cy="25603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56" name="Text 54"/>
          <p:cNvSpPr/>
          <p:nvPr/>
        </p:nvSpPr>
        <p:spPr>
          <a:xfrm>
            <a:off x="3282696" y="260604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3557016" y="260604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saves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029200" y="2606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3246120" y="2843784"/>
            <a:ext cx="274320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3282696" y="288036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3557016" y="28803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viral_coeff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5029200" y="28803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6144768" y="1143000"/>
            <a:ext cx="2743200" cy="1719072"/>
          </a:xfrm>
          <a:prstGeom prst="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144768" y="1143000"/>
            <a:ext cx="2743200" cy="292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5" name="Text 63"/>
          <p:cNvSpPr/>
          <p:nvPr/>
        </p:nvSpPr>
        <p:spPr>
          <a:xfrm>
            <a:off x="6236208" y="1179576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user_comments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144768" y="1472184"/>
            <a:ext cx="2743200" cy="25603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7" name="Text 65"/>
          <p:cNvSpPr/>
          <p:nvPr/>
        </p:nvSpPr>
        <p:spPr>
          <a:xfrm>
            <a:off x="6181344" y="150876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6455664" y="1508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comment_id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7927848" y="1508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6144768" y="1746504"/>
            <a:ext cx="274320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Text 69"/>
          <p:cNvSpPr/>
          <p:nvPr/>
        </p:nvSpPr>
        <p:spPr>
          <a:xfrm>
            <a:off x="6181344" y="178308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6455664" y="178308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post_id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7927848" y="17830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6144768" y="2020824"/>
            <a:ext cx="2743200" cy="25603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75" name="Text 73"/>
          <p:cNvSpPr/>
          <p:nvPr/>
        </p:nvSpPr>
        <p:spPr>
          <a:xfrm>
            <a:off x="6181344" y="205740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6455664" y="205740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comment_text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7927848" y="20574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6144768" y="2295144"/>
            <a:ext cx="274320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9" name="Text 77"/>
          <p:cNvSpPr/>
          <p:nvPr/>
        </p:nvSpPr>
        <p:spPr>
          <a:xfrm>
            <a:off x="6181344" y="233172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6455664" y="233172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sentiment_tag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7927848" y="23317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6144768" y="2569464"/>
            <a:ext cx="2743200" cy="25603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83" name="Text 81"/>
          <p:cNvSpPr/>
          <p:nvPr/>
        </p:nvSpPr>
        <p:spPr>
          <a:xfrm>
            <a:off x="6181344" y="260604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6455664" y="260604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sentiment_score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7927848" y="2606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347472" y="3291840"/>
            <a:ext cx="2743200" cy="1993392"/>
          </a:xfrm>
          <a:prstGeom prst="rect">
            <a:avLst>
              <a:gd name="adj" fmla="val 1835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47472" y="3291840"/>
            <a:ext cx="2743200" cy="292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8" name="Text 86"/>
          <p:cNvSpPr/>
          <p:nvPr/>
        </p:nvSpPr>
        <p:spPr>
          <a:xfrm>
            <a:off x="438912" y="3328416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ab_tests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347472" y="3621024"/>
            <a:ext cx="2743200" cy="25603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90" name="Text 88"/>
          <p:cNvSpPr/>
          <p:nvPr/>
        </p:nvSpPr>
        <p:spPr>
          <a:xfrm>
            <a:off x="384048" y="365760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658368" y="365760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test_id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2130552" y="3657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347472" y="3895344"/>
            <a:ext cx="274320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4" name="Text 92"/>
          <p:cNvSpPr/>
          <p:nvPr/>
        </p:nvSpPr>
        <p:spPr>
          <a:xfrm>
            <a:off x="384048" y="393192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658368" y="393192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variable_name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2130552" y="39319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VARCHAR(50)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347472" y="4169664"/>
            <a:ext cx="2743200" cy="25603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98" name="Text 96"/>
          <p:cNvSpPr/>
          <p:nvPr/>
        </p:nvSpPr>
        <p:spPr>
          <a:xfrm>
            <a:off x="384048" y="420624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700" dirty="0"/>
          </a:p>
        </p:txBody>
      </p:sp>
      <p:sp>
        <p:nvSpPr>
          <p:cNvPr id="99" name="Text 97"/>
          <p:cNvSpPr/>
          <p:nvPr/>
        </p:nvSpPr>
        <p:spPr>
          <a:xfrm>
            <a:off x="658368" y="420624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variant_a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2130552" y="42062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VARCHAR(80)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347472" y="4443984"/>
            <a:ext cx="274320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2" name="Text 100"/>
          <p:cNvSpPr/>
          <p:nvPr/>
        </p:nvSpPr>
        <p:spPr>
          <a:xfrm>
            <a:off x="384048" y="448056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658368" y="44805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variant_b</a:t>
            </a:r>
            <a:endParaRPr lang="en-US" sz="850" dirty="0"/>
          </a:p>
        </p:txBody>
      </p:sp>
      <p:sp>
        <p:nvSpPr>
          <p:cNvPr id="104" name="Text 102"/>
          <p:cNvSpPr/>
          <p:nvPr/>
        </p:nvSpPr>
        <p:spPr>
          <a:xfrm>
            <a:off x="2130552" y="44805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VARCHAR(80)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347472" y="4718304"/>
            <a:ext cx="2743200" cy="25603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06" name="Text 104"/>
          <p:cNvSpPr/>
          <p:nvPr/>
        </p:nvSpPr>
        <p:spPr>
          <a:xfrm>
            <a:off x="384048" y="475488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700" dirty="0"/>
          </a:p>
        </p:txBody>
      </p:sp>
      <p:sp>
        <p:nvSpPr>
          <p:cNvPr id="107" name="Text 105"/>
          <p:cNvSpPr/>
          <p:nvPr/>
        </p:nvSpPr>
        <p:spPr>
          <a:xfrm>
            <a:off x="658368" y="475488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winner</a:t>
            </a:r>
            <a:endParaRPr lang="en-US" sz="850" dirty="0"/>
          </a:p>
        </p:txBody>
      </p:sp>
      <p:sp>
        <p:nvSpPr>
          <p:cNvPr id="108" name="Text 106"/>
          <p:cNvSpPr/>
          <p:nvPr/>
        </p:nvSpPr>
        <p:spPr>
          <a:xfrm>
            <a:off x="2130552" y="47548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CHAR(1)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347472" y="4992624"/>
            <a:ext cx="274320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0" name="Text 108"/>
          <p:cNvSpPr/>
          <p:nvPr/>
        </p:nvSpPr>
        <p:spPr>
          <a:xfrm>
            <a:off x="384048" y="502920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700" dirty="0"/>
          </a:p>
        </p:txBody>
      </p:sp>
      <p:sp>
        <p:nvSpPr>
          <p:cNvPr id="111" name="Text 109"/>
          <p:cNvSpPr/>
          <p:nvPr/>
        </p:nvSpPr>
        <p:spPr>
          <a:xfrm>
            <a:off x="658368" y="502920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p_value</a:t>
            </a:r>
            <a:endParaRPr lang="en-US" sz="850" dirty="0"/>
          </a:p>
        </p:txBody>
      </p:sp>
      <p:sp>
        <p:nvSpPr>
          <p:cNvPr id="112" name="Text 110"/>
          <p:cNvSpPr/>
          <p:nvPr/>
        </p:nvSpPr>
        <p:spPr>
          <a:xfrm>
            <a:off x="2130552" y="50292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750" dirty="0"/>
          </a:p>
        </p:txBody>
      </p:sp>
      <p:sp>
        <p:nvSpPr>
          <p:cNvPr id="113" name="Shape 111"/>
          <p:cNvSpPr/>
          <p:nvPr/>
        </p:nvSpPr>
        <p:spPr>
          <a:xfrm>
            <a:off x="3246120" y="3291840"/>
            <a:ext cx="2743200" cy="1719072"/>
          </a:xfrm>
          <a:prstGeom prst="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246120" y="3291840"/>
            <a:ext cx="2743200" cy="292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5" name="Text 113"/>
          <p:cNvSpPr/>
          <p:nvPr/>
        </p:nvSpPr>
        <p:spPr>
          <a:xfrm>
            <a:off x="3337560" y="3328416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weekly_strategy</a:t>
            </a:r>
            <a:endParaRPr lang="en-US" sz="950" dirty="0"/>
          </a:p>
        </p:txBody>
      </p:sp>
      <p:sp>
        <p:nvSpPr>
          <p:cNvPr id="116" name="Shape 114"/>
          <p:cNvSpPr/>
          <p:nvPr/>
        </p:nvSpPr>
        <p:spPr>
          <a:xfrm>
            <a:off x="3246120" y="3621024"/>
            <a:ext cx="2743200" cy="25603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17" name="Text 115"/>
          <p:cNvSpPr/>
          <p:nvPr/>
        </p:nvSpPr>
        <p:spPr>
          <a:xfrm>
            <a:off x="3282696" y="365760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00" dirty="0"/>
          </a:p>
        </p:txBody>
      </p:sp>
      <p:sp>
        <p:nvSpPr>
          <p:cNvPr id="118" name="Text 116"/>
          <p:cNvSpPr/>
          <p:nvPr/>
        </p:nvSpPr>
        <p:spPr>
          <a:xfrm>
            <a:off x="3557016" y="365760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strategy_id</a:t>
            </a:r>
            <a:endParaRPr lang="en-US" sz="850" dirty="0"/>
          </a:p>
        </p:txBody>
      </p:sp>
      <p:sp>
        <p:nvSpPr>
          <p:cNvPr id="119" name="Text 117"/>
          <p:cNvSpPr/>
          <p:nvPr/>
        </p:nvSpPr>
        <p:spPr>
          <a:xfrm>
            <a:off x="5029200" y="3657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50" dirty="0"/>
          </a:p>
        </p:txBody>
      </p:sp>
      <p:sp>
        <p:nvSpPr>
          <p:cNvPr id="120" name="Shape 118"/>
          <p:cNvSpPr/>
          <p:nvPr/>
        </p:nvSpPr>
        <p:spPr>
          <a:xfrm>
            <a:off x="3246120" y="3895344"/>
            <a:ext cx="274320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1" name="Text 119"/>
          <p:cNvSpPr/>
          <p:nvPr/>
        </p:nvSpPr>
        <p:spPr>
          <a:xfrm>
            <a:off x="3282696" y="393192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700" dirty="0"/>
          </a:p>
        </p:txBody>
      </p:sp>
      <p:sp>
        <p:nvSpPr>
          <p:cNvPr id="122" name="Text 120"/>
          <p:cNvSpPr/>
          <p:nvPr/>
        </p:nvSpPr>
        <p:spPr>
          <a:xfrm>
            <a:off x="3557016" y="393192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week_start</a:t>
            </a:r>
            <a:endParaRPr lang="en-US" sz="850" dirty="0"/>
          </a:p>
        </p:txBody>
      </p:sp>
      <p:sp>
        <p:nvSpPr>
          <p:cNvPr id="123" name="Text 121"/>
          <p:cNvSpPr/>
          <p:nvPr/>
        </p:nvSpPr>
        <p:spPr>
          <a:xfrm>
            <a:off x="5029200" y="39319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750" dirty="0"/>
          </a:p>
        </p:txBody>
      </p:sp>
      <p:sp>
        <p:nvSpPr>
          <p:cNvPr id="124" name="Shape 122"/>
          <p:cNvSpPr/>
          <p:nvPr/>
        </p:nvSpPr>
        <p:spPr>
          <a:xfrm>
            <a:off x="3246120" y="4169664"/>
            <a:ext cx="2743200" cy="25603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25" name="Text 123"/>
          <p:cNvSpPr/>
          <p:nvPr/>
        </p:nvSpPr>
        <p:spPr>
          <a:xfrm>
            <a:off x="3282696" y="420624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700" dirty="0"/>
          </a:p>
        </p:txBody>
      </p:sp>
      <p:sp>
        <p:nvSpPr>
          <p:cNvPr id="126" name="Text 124"/>
          <p:cNvSpPr/>
          <p:nvPr/>
        </p:nvSpPr>
        <p:spPr>
          <a:xfrm>
            <a:off x="3557016" y="420624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rec_topic</a:t>
            </a:r>
            <a:endParaRPr lang="en-US" sz="850" dirty="0"/>
          </a:p>
        </p:txBody>
      </p:sp>
      <p:sp>
        <p:nvSpPr>
          <p:cNvPr id="127" name="Text 125"/>
          <p:cNvSpPr/>
          <p:nvPr/>
        </p:nvSpPr>
        <p:spPr>
          <a:xfrm>
            <a:off x="5029200" y="42062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VARCHAR(50)</a:t>
            </a:r>
            <a:endParaRPr lang="en-US" sz="750" dirty="0"/>
          </a:p>
        </p:txBody>
      </p:sp>
      <p:sp>
        <p:nvSpPr>
          <p:cNvPr id="128" name="Shape 126"/>
          <p:cNvSpPr/>
          <p:nvPr/>
        </p:nvSpPr>
        <p:spPr>
          <a:xfrm>
            <a:off x="3246120" y="4443984"/>
            <a:ext cx="274320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9" name="Text 127"/>
          <p:cNvSpPr/>
          <p:nvPr/>
        </p:nvSpPr>
        <p:spPr>
          <a:xfrm>
            <a:off x="3282696" y="448056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700" dirty="0"/>
          </a:p>
        </p:txBody>
      </p:sp>
      <p:sp>
        <p:nvSpPr>
          <p:cNvPr id="130" name="Text 128"/>
          <p:cNvSpPr/>
          <p:nvPr/>
        </p:nvSpPr>
        <p:spPr>
          <a:xfrm>
            <a:off x="3557016" y="44805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rec_format</a:t>
            </a:r>
            <a:endParaRPr lang="en-US" sz="850" dirty="0"/>
          </a:p>
        </p:txBody>
      </p:sp>
      <p:sp>
        <p:nvSpPr>
          <p:cNvPr id="131" name="Text 129"/>
          <p:cNvSpPr/>
          <p:nvPr/>
        </p:nvSpPr>
        <p:spPr>
          <a:xfrm>
            <a:off x="5029200" y="44805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VARCHAR(30)</a:t>
            </a:r>
            <a:endParaRPr lang="en-US" sz="750" dirty="0"/>
          </a:p>
        </p:txBody>
      </p:sp>
      <p:sp>
        <p:nvSpPr>
          <p:cNvPr id="132" name="Shape 130"/>
          <p:cNvSpPr/>
          <p:nvPr/>
        </p:nvSpPr>
        <p:spPr>
          <a:xfrm>
            <a:off x="3246120" y="4718304"/>
            <a:ext cx="2743200" cy="25603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33" name="Text 131"/>
          <p:cNvSpPr/>
          <p:nvPr/>
        </p:nvSpPr>
        <p:spPr>
          <a:xfrm>
            <a:off x="3282696" y="475488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700" dirty="0"/>
          </a:p>
        </p:txBody>
      </p:sp>
      <p:sp>
        <p:nvSpPr>
          <p:cNvPr id="134" name="Text 132"/>
          <p:cNvSpPr/>
          <p:nvPr/>
        </p:nvSpPr>
        <p:spPr>
          <a:xfrm>
            <a:off x="3557016" y="475488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projected_vc</a:t>
            </a:r>
            <a:endParaRPr lang="en-US" sz="850" dirty="0"/>
          </a:p>
        </p:txBody>
      </p:sp>
      <p:sp>
        <p:nvSpPr>
          <p:cNvPr id="135" name="Text 133"/>
          <p:cNvSpPr/>
          <p:nvPr/>
        </p:nvSpPr>
        <p:spPr>
          <a:xfrm>
            <a:off x="5029200" y="47548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750" dirty="0"/>
          </a:p>
        </p:txBody>
      </p:sp>
      <p:sp>
        <p:nvSpPr>
          <p:cNvPr id="136" name="Shape 134"/>
          <p:cNvSpPr/>
          <p:nvPr/>
        </p:nvSpPr>
        <p:spPr>
          <a:xfrm>
            <a:off x="6144768" y="3291840"/>
            <a:ext cx="2743200" cy="1444752"/>
          </a:xfrm>
          <a:prstGeom prst="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144768" y="3291840"/>
            <a:ext cx="2743200" cy="292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8" name="Text 136"/>
          <p:cNvSpPr/>
          <p:nvPr/>
        </p:nvSpPr>
        <p:spPr>
          <a:xfrm>
            <a:off x="6236208" y="3328416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trend_keywords</a:t>
            </a:r>
            <a:endParaRPr lang="en-US" sz="950" dirty="0"/>
          </a:p>
        </p:txBody>
      </p:sp>
      <p:sp>
        <p:nvSpPr>
          <p:cNvPr id="139" name="Shape 137"/>
          <p:cNvSpPr/>
          <p:nvPr/>
        </p:nvSpPr>
        <p:spPr>
          <a:xfrm>
            <a:off x="6144768" y="3621024"/>
            <a:ext cx="2743200" cy="25603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40" name="Text 138"/>
          <p:cNvSpPr/>
          <p:nvPr/>
        </p:nvSpPr>
        <p:spPr>
          <a:xfrm>
            <a:off x="6181344" y="365760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00" dirty="0"/>
          </a:p>
        </p:txBody>
      </p:sp>
      <p:sp>
        <p:nvSpPr>
          <p:cNvPr id="141" name="Text 139"/>
          <p:cNvSpPr/>
          <p:nvPr/>
        </p:nvSpPr>
        <p:spPr>
          <a:xfrm>
            <a:off x="6455664" y="365760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keyword_id</a:t>
            </a:r>
            <a:endParaRPr lang="en-US" sz="850" dirty="0"/>
          </a:p>
        </p:txBody>
      </p:sp>
      <p:sp>
        <p:nvSpPr>
          <p:cNvPr id="142" name="Text 140"/>
          <p:cNvSpPr/>
          <p:nvPr/>
        </p:nvSpPr>
        <p:spPr>
          <a:xfrm>
            <a:off x="7927848" y="3657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50" dirty="0"/>
          </a:p>
        </p:txBody>
      </p:sp>
      <p:sp>
        <p:nvSpPr>
          <p:cNvPr id="143" name="Shape 141"/>
          <p:cNvSpPr/>
          <p:nvPr/>
        </p:nvSpPr>
        <p:spPr>
          <a:xfrm>
            <a:off x="6144768" y="3895344"/>
            <a:ext cx="274320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4" name="Text 142"/>
          <p:cNvSpPr/>
          <p:nvPr/>
        </p:nvSpPr>
        <p:spPr>
          <a:xfrm>
            <a:off x="6181344" y="393192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700" dirty="0"/>
          </a:p>
        </p:txBody>
      </p:sp>
      <p:sp>
        <p:nvSpPr>
          <p:cNvPr id="145" name="Text 143"/>
          <p:cNvSpPr/>
          <p:nvPr/>
        </p:nvSpPr>
        <p:spPr>
          <a:xfrm>
            <a:off x="6455664" y="393192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keyword</a:t>
            </a:r>
            <a:endParaRPr lang="en-US" sz="850" dirty="0"/>
          </a:p>
        </p:txBody>
      </p:sp>
      <p:sp>
        <p:nvSpPr>
          <p:cNvPr id="146" name="Text 144"/>
          <p:cNvSpPr/>
          <p:nvPr/>
        </p:nvSpPr>
        <p:spPr>
          <a:xfrm>
            <a:off x="7927848" y="39319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VARCHAR(80)</a:t>
            </a:r>
            <a:endParaRPr lang="en-US" sz="750" dirty="0"/>
          </a:p>
        </p:txBody>
      </p:sp>
      <p:sp>
        <p:nvSpPr>
          <p:cNvPr id="147" name="Shape 145"/>
          <p:cNvSpPr/>
          <p:nvPr/>
        </p:nvSpPr>
        <p:spPr>
          <a:xfrm>
            <a:off x="6144768" y="4169664"/>
            <a:ext cx="2743200" cy="25603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48" name="Text 146"/>
          <p:cNvSpPr/>
          <p:nvPr/>
        </p:nvSpPr>
        <p:spPr>
          <a:xfrm>
            <a:off x="6181344" y="420624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700" dirty="0"/>
          </a:p>
        </p:txBody>
      </p:sp>
      <p:sp>
        <p:nvSpPr>
          <p:cNvPr id="149" name="Text 147"/>
          <p:cNvSpPr/>
          <p:nvPr/>
        </p:nvSpPr>
        <p:spPr>
          <a:xfrm>
            <a:off x="6455664" y="420624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trend_score</a:t>
            </a:r>
            <a:endParaRPr lang="en-US" sz="850" dirty="0"/>
          </a:p>
        </p:txBody>
      </p:sp>
      <p:sp>
        <p:nvSpPr>
          <p:cNvPr id="150" name="Text 148"/>
          <p:cNvSpPr/>
          <p:nvPr/>
        </p:nvSpPr>
        <p:spPr>
          <a:xfrm>
            <a:off x="7927848" y="42062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750" dirty="0"/>
          </a:p>
        </p:txBody>
      </p:sp>
      <p:sp>
        <p:nvSpPr>
          <p:cNvPr id="151" name="Shape 149"/>
          <p:cNvSpPr/>
          <p:nvPr/>
        </p:nvSpPr>
        <p:spPr>
          <a:xfrm>
            <a:off x="6144768" y="4443984"/>
            <a:ext cx="274320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2" name="Text 150"/>
          <p:cNvSpPr/>
          <p:nvPr/>
        </p:nvSpPr>
        <p:spPr>
          <a:xfrm>
            <a:off x="6181344" y="448056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700" dirty="0"/>
          </a:p>
        </p:txBody>
      </p:sp>
      <p:sp>
        <p:nvSpPr>
          <p:cNvPr id="153" name="Text 151"/>
          <p:cNvSpPr/>
          <p:nvPr/>
        </p:nvSpPr>
        <p:spPr>
          <a:xfrm>
            <a:off x="6455664" y="44805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recorded_at</a:t>
            </a:r>
            <a:endParaRPr lang="en-US" sz="850" dirty="0"/>
          </a:p>
        </p:txBody>
      </p:sp>
      <p:sp>
        <p:nvSpPr>
          <p:cNvPr id="154" name="Text 152"/>
          <p:cNvSpPr/>
          <p:nvPr/>
        </p:nvSpPr>
        <p:spPr>
          <a:xfrm>
            <a:off x="7927848" y="44805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18288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420624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Timeline — 8-Week Execution Plan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1014984"/>
            <a:ext cx="1097280" cy="3200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9651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Social Engagement Initiative  ·  Gaurav  ·  Unlox Academy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50392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234440" y="1261872"/>
            <a:ext cx="27432" cy="3429000"/>
          </a:xfrm>
          <a:prstGeom prst="rect">
            <a:avLst/>
          </a:prstGeom>
          <a:solidFill>
            <a:srgbClr val="D1D9E6"/>
          </a:solidFill>
          <a:ln/>
        </p:spPr>
      </p:sp>
      <p:sp>
        <p:nvSpPr>
          <p:cNvPr id="10" name="Shape 8"/>
          <p:cNvSpPr/>
          <p:nvPr/>
        </p:nvSpPr>
        <p:spPr>
          <a:xfrm>
            <a:off x="1115568" y="1298448"/>
            <a:ext cx="237744" cy="23774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" y="128016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463040" y="1188720"/>
            <a:ext cx="7315200" cy="530352"/>
          </a:xfrm>
          <a:prstGeom prst="rect">
            <a:avLst>
              <a:gd name="adj" fmla="val 6897"/>
            </a:avLst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63040" y="1188720"/>
            <a:ext cx="640080" cy="530352"/>
          </a:xfrm>
          <a:prstGeom prst="rect">
            <a:avLst>
              <a:gd name="adj" fmla="val 6897"/>
            </a:avLst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1188720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212848" y="1225296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Data Collection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212848" y="1444752"/>
            <a:ext cx="6492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Instagram Graph API and YouTube Data API. Set up Selenium scraping fallback. Design and create MySQL schema. Begin automated metric collection.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115568" y="1883664"/>
            <a:ext cx="237744" cy="237744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18" name="Text 16"/>
          <p:cNvSpPr/>
          <p:nvPr/>
        </p:nvSpPr>
        <p:spPr>
          <a:xfrm>
            <a:off x="256032" y="186537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463040" y="1773936"/>
            <a:ext cx="7315200" cy="530352"/>
          </a:xfrm>
          <a:prstGeom prst="rect">
            <a:avLst>
              <a:gd name="adj" fmla="val 6897"/>
            </a:avLst>
          </a:prstGeom>
          <a:solidFill>
            <a:srgbClr val="EBF2FA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63040" y="1773936"/>
            <a:ext cx="640080" cy="530352"/>
          </a:xfrm>
          <a:prstGeom prst="rect">
            <a:avLst>
              <a:gd name="adj" fmla="val 6897"/>
            </a:avLst>
          </a:prstGeom>
          <a:solidFill>
            <a:srgbClr val="2E86C1"/>
          </a:solidFill>
          <a:ln/>
        </p:spPr>
      </p:sp>
      <p:sp>
        <p:nvSpPr>
          <p:cNvPr id="21" name="Text 19"/>
          <p:cNvSpPr/>
          <p:nvPr/>
        </p:nvSpPr>
        <p:spPr>
          <a:xfrm>
            <a:off x="1463040" y="1773936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212848" y="1810512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Exploratory Analysis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212848" y="2029968"/>
            <a:ext cx="6492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Pandas-based preprocessing pipeline. Handle nulls, duplicates, and outliers. Initial EDA — distribution of VC scores, topic frequency, retention histograms.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115568" y="2468880"/>
            <a:ext cx="237744" cy="237744"/>
          </a:xfrm>
          <a:prstGeom prst="ellipse">
            <a:avLst/>
          </a:prstGeom>
          <a:solidFill>
            <a:srgbClr val="1A7A4A"/>
          </a:solidFill>
          <a:ln/>
        </p:spPr>
      </p:sp>
      <p:sp>
        <p:nvSpPr>
          <p:cNvPr id="25" name="Text 23"/>
          <p:cNvSpPr/>
          <p:nvPr/>
        </p:nvSpPr>
        <p:spPr>
          <a:xfrm>
            <a:off x="256032" y="245059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463040" y="2359152"/>
            <a:ext cx="7315200" cy="530352"/>
          </a:xfrm>
          <a:prstGeom prst="rect">
            <a:avLst>
              <a:gd name="adj" fmla="val 6897"/>
            </a:avLst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63040" y="2359152"/>
            <a:ext cx="640080" cy="530352"/>
          </a:xfrm>
          <a:prstGeom prst="rect">
            <a:avLst>
              <a:gd name="adj" fmla="val 6897"/>
            </a:avLst>
          </a:prstGeom>
          <a:solidFill>
            <a:srgbClr val="1A7A4A"/>
          </a:solidFill>
          <a:ln/>
        </p:spPr>
      </p:sp>
      <p:sp>
        <p:nvSpPr>
          <p:cNvPr id="28" name="Text 26"/>
          <p:cNvSpPr/>
          <p:nvPr/>
        </p:nvSpPr>
        <p:spPr>
          <a:xfrm>
            <a:off x="1463040" y="2359152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212848" y="239572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Sentiment Model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212848" y="2615184"/>
            <a:ext cx="6492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evaluate TextBlob + custom lexicon classifier. Precision/recall tuning on labelled comment dataset. Store tagged outputs back to database.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115568" y="3054096"/>
            <a:ext cx="237744" cy="237744"/>
          </a:xfrm>
          <a:prstGeom prst="ellipse">
            <a:avLst/>
          </a:prstGeom>
          <a:solidFill>
            <a:srgbClr val="1A7A4A"/>
          </a:solidFill>
          <a:ln/>
        </p:spPr>
      </p:sp>
      <p:sp>
        <p:nvSpPr>
          <p:cNvPr id="32" name="Text 30"/>
          <p:cNvSpPr/>
          <p:nvPr/>
        </p:nvSpPr>
        <p:spPr>
          <a:xfrm>
            <a:off x="256032" y="303580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463040" y="2944368"/>
            <a:ext cx="7315200" cy="530352"/>
          </a:xfrm>
          <a:prstGeom prst="rect">
            <a:avLst>
              <a:gd name="adj" fmla="val 6897"/>
            </a:avLst>
          </a:prstGeom>
          <a:solidFill>
            <a:srgbClr val="EBF2FA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463040" y="2944368"/>
            <a:ext cx="640080" cy="530352"/>
          </a:xfrm>
          <a:prstGeom prst="rect">
            <a:avLst>
              <a:gd name="adj" fmla="val 6897"/>
            </a:avLst>
          </a:prstGeom>
          <a:solidFill>
            <a:srgbClr val="1A7A4A"/>
          </a:solidFill>
          <a:ln/>
        </p:spPr>
      </p:sp>
      <p:sp>
        <p:nvSpPr>
          <p:cNvPr id="35" name="Text 33"/>
          <p:cNvSpPr/>
          <p:nvPr/>
        </p:nvSpPr>
        <p:spPr>
          <a:xfrm>
            <a:off x="1463040" y="2944368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212848" y="2980944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Virality Model &amp; A/B Framework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212848" y="3200400"/>
            <a:ext cx="6492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Viral Coefficient calculation. Set up A/B test tracking table. Run first controlled experiment (Format: Short vs. Long). Statistical significance testing.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115568" y="3639312"/>
            <a:ext cx="237744" cy="23774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9" name="Text 37"/>
          <p:cNvSpPr/>
          <p:nvPr/>
        </p:nvSpPr>
        <p:spPr>
          <a:xfrm>
            <a:off x="256032" y="362102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463040" y="3529584"/>
            <a:ext cx="7315200" cy="530352"/>
          </a:xfrm>
          <a:prstGeom prst="rect">
            <a:avLst>
              <a:gd name="adj" fmla="val 6897"/>
            </a:avLst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63040" y="3529584"/>
            <a:ext cx="640080" cy="530352"/>
          </a:xfrm>
          <a:prstGeom prst="rect">
            <a:avLst>
              <a:gd name="adj" fmla="val 6897"/>
            </a:avLst>
          </a:prstGeom>
          <a:solidFill>
            <a:srgbClr val="1E3A5F"/>
          </a:solidFill>
          <a:ln/>
        </p:spPr>
      </p:sp>
      <p:sp>
        <p:nvSpPr>
          <p:cNvPr id="42" name="Text 40"/>
          <p:cNvSpPr/>
          <p:nvPr/>
        </p:nvSpPr>
        <p:spPr>
          <a:xfrm>
            <a:off x="1463040" y="3529584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212848" y="356616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 &amp; Dashboard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2212848" y="3785616"/>
            <a:ext cx="6492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Streamlit dashboard with live DB connection. Integrate weekly strategy generator. Tableau charts for stakeholder-facing reports.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115568" y="4224528"/>
            <a:ext cx="237744" cy="237744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46" name="Text 44"/>
          <p:cNvSpPr/>
          <p:nvPr/>
        </p:nvSpPr>
        <p:spPr>
          <a:xfrm>
            <a:off x="256032" y="42062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7–8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463040" y="4114800"/>
            <a:ext cx="7315200" cy="530352"/>
          </a:xfrm>
          <a:prstGeom prst="rect">
            <a:avLst>
              <a:gd name="adj" fmla="val 6897"/>
            </a:avLst>
          </a:prstGeom>
          <a:solidFill>
            <a:srgbClr val="EBF2FA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463040" y="4114800"/>
            <a:ext cx="640080" cy="530352"/>
          </a:xfrm>
          <a:prstGeom prst="rect">
            <a:avLst>
              <a:gd name="adj" fmla="val 6897"/>
            </a:avLst>
          </a:prstGeom>
          <a:solidFill>
            <a:srgbClr val="2E86C1"/>
          </a:solidFill>
          <a:ln/>
        </p:spPr>
      </p:sp>
      <p:sp>
        <p:nvSpPr>
          <p:cNvPr id="49" name="Text 47"/>
          <p:cNvSpPr/>
          <p:nvPr/>
        </p:nvSpPr>
        <p:spPr>
          <a:xfrm>
            <a:off x="1463040" y="4114800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212848" y="4151376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Report &amp; Presentation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2212848" y="4370832"/>
            <a:ext cx="6492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testing. Write strategy report with data-backed insights. Final presentation preparation. Documentation and GitHub commit cleanup.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18288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420624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Results &amp; Model Performance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1014984"/>
            <a:ext cx="1097280" cy="3200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9651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Social Engagement Initiative  ·  Gaurav  ·  Unlox Academy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50392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47472" y="1143000"/>
            <a:ext cx="2011680" cy="804672"/>
          </a:xfrm>
          <a:prstGeom prst="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143000"/>
            <a:ext cx="2011680" cy="5486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121615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+2,840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" y="158191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Followers gained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47472" y="176479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8-week test period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478024" y="1143000"/>
            <a:ext cx="2011680" cy="804672"/>
          </a:xfrm>
          <a:prstGeom prst="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78024" y="1143000"/>
            <a:ext cx="2011680" cy="5486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6" name="Text 14"/>
          <p:cNvSpPr/>
          <p:nvPr/>
        </p:nvSpPr>
        <p:spPr>
          <a:xfrm>
            <a:off x="2478024" y="121615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87.4%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478024" y="158191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accuracy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478024" y="176479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1,200-comment test set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608576" y="1143000"/>
            <a:ext cx="2011680" cy="804672"/>
          </a:xfrm>
          <a:prstGeom prst="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08576" y="1143000"/>
            <a:ext cx="2011680" cy="5486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1" name="Text 19"/>
          <p:cNvSpPr/>
          <p:nvPr/>
        </p:nvSpPr>
        <p:spPr>
          <a:xfrm>
            <a:off x="4608576" y="121615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608576" y="158191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viral coefficient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608576" y="176479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Anxiety topic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739128" y="1143000"/>
            <a:ext cx="2011680" cy="804672"/>
          </a:xfrm>
          <a:prstGeom prst="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39128" y="1143000"/>
            <a:ext cx="2011680" cy="5486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6" name="Text 24"/>
          <p:cNvSpPr/>
          <p:nvPr/>
        </p:nvSpPr>
        <p:spPr>
          <a:xfrm>
            <a:off x="6739128" y="121615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739128" y="158191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tests decisive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739128" y="176479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 &lt; 0.05</a:t>
            </a:r>
            <a:endParaRPr lang="en-US" sz="75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347472" y="2103120"/>
          <a:ext cx="411480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0" name="Chart 1" descr=""/>
          <p:cNvGraphicFramePr/>
          <p:nvPr/>
        </p:nvGraphicFramePr>
        <p:xfrm>
          <a:off x="4663440" y="2103120"/>
          <a:ext cx="411480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1" name="Text 27"/>
          <p:cNvSpPr/>
          <p:nvPr/>
        </p:nvSpPr>
        <p:spPr>
          <a:xfrm>
            <a:off x="347472" y="469087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*All figures are based on test-period data collected during the 8-week content experiment.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18288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420624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Encountered &amp; How They Were Resolved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1014984"/>
            <a:ext cx="1097280" cy="3200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9651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Social Engagement Initiative  ·  Gaurav  ·  Unlox Academy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50392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47472" y="1143000"/>
            <a:ext cx="4114800" cy="1691640"/>
          </a:xfrm>
          <a:prstGeom prst="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143000"/>
            <a:ext cx="4114800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" y="1271016"/>
            <a:ext cx="292608" cy="29260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" y="1271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" y="12801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API Rate Limiting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" y="1618488"/>
            <a:ext cx="109728" cy="4572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61848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Graph API enforces strict rate limits (200 calls/hour per token), which interrupted automated daily collection jobs.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" y="2130552"/>
            <a:ext cx="109728" cy="530352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13055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58368" y="230428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exponential backoff retry logic and token rotation using multiple developer accounts. Added local SQLite cache to avoid re-fetching existing data.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90872" y="1143000"/>
            <a:ext cx="4114800" cy="1691640"/>
          </a:xfrm>
          <a:prstGeom prst="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90872" y="1143000"/>
            <a:ext cx="4114800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2" name="Shape 20"/>
          <p:cNvSpPr/>
          <p:nvPr/>
        </p:nvSpPr>
        <p:spPr>
          <a:xfrm>
            <a:off x="4818888" y="1271016"/>
            <a:ext cx="292608" cy="29260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4818888" y="1271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02936" y="12801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in NLP Model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18888" y="1618488"/>
            <a:ext cx="109728" cy="4572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6" name="Text 24"/>
          <p:cNvSpPr/>
          <p:nvPr/>
        </p:nvSpPr>
        <p:spPr>
          <a:xfrm>
            <a:off x="5001768" y="161848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001768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comment dataset had ~78% NEUTRAL labels and only 22% RELATABLE, causing the classifier to over-predict NEUTRAL.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18888" y="2130552"/>
            <a:ext cx="109728" cy="530352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29" name="Text 27"/>
          <p:cNvSpPr/>
          <p:nvPr/>
        </p:nvSpPr>
        <p:spPr>
          <a:xfrm>
            <a:off x="5001768" y="213055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01768" y="230428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SMOTE (Synthetic Minority Oversampling) and adjusted class weights in the Logistic Regression model. F1-score improved from 0.71 to 0.88.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7472" y="2926080"/>
            <a:ext cx="4114800" cy="1691640"/>
          </a:xfrm>
          <a:prstGeom prst="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7472" y="2926080"/>
            <a:ext cx="4114800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3" name="Shape 31"/>
          <p:cNvSpPr/>
          <p:nvPr/>
        </p:nvSpPr>
        <p:spPr>
          <a:xfrm>
            <a:off x="475488" y="3054096"/>
            <a:ext cx="292608" cy="29260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" y="3054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59536" y="30632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'Relatability' Objectively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" y="3401568"/>
            <a:ext cx="109728" cy="4572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7" name="Text 35"/>
          <p:cNvSpPr/>
          <p:nvPr/>
        </p:nvSpPr>
        <p:spPr>
          <a:xfrm>
            <a:off x="658368" y="34015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58368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Relatability is a subjective concept. Translating it into measurable features required careful feature engineering and manual labelling.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" y="3913632"/>
            <a:ext cx="109728" cy="530352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40" name="Text 38"/>
          <p:cNvSpPr/>
          <p:nvPr/>
        </p:nvSpPr>
        <p:spPr>
          <a:xfrm>
            <a:off x="658368" y="391363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58368" y="408736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15-keyword trigger lexicon validated by manual review of 300 comments. Benchmarked against human annotators achieving ~82% inter-rater agreement.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90872" y="2926080"/>
            <a:ext cx="4114800" cy="1691640"/>
          </a:xfrm>
          <a:prstGeom prst="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90872" y="2926080"/>
            <a:ext cx="4114800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4" name="Shape 42"/>
          <p:cNvSpPr/>
          <p:nvPr/>
        </p:nvSpPr>
        <p:spPr>
          <a:xfrm>
            <a:off x="4818888" y="3054096"/>
            <a:ext cx="292608" cy="29260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5" name="Text 43"/>
          <p:cNvSpPr/>
          <p:nvPr/>
        </p:nvSpPr>
        <p:spPr>
          <a:xfrm>
            <a:off x="4818888" y="3054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202936" y="30632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Contamination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18888" y="3401568"/>
            <a:ext cx="109728" cy="4572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48" name="Text 46"/>
          <p:cNvSpPr/>
          <p:nvPr/>
        </p:nvSpPr>
        <p:spPr>
          <a:xfrm>
            <a:off x="5001768" y="34015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001768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overlap between Variant A and B content posts skewed engagement metrics, making comparisons invalid.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18888" y="3913632"/>
            <a:ext cx="109728" cy="530352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51" name="Text 49"/>
          <p:cNvSpPr/>
          <p:nvPr/>
        </p:nvSpPr>
        <p:spPr>
          <a:xfrm>
            <a:off x="5001768" y="391363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001768" y="408736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a 48-hour gap between variant postings and used reach-normalised metrics (engagement per 1,000 impressions) to ensure fair comparison.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18288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420624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&amp; Planned Improvements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1014984"/>
            <a:ext cx="1097280" cy="3200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9651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Social Engagement Initiative  ·  Gaurav  ·  Unlox Academy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50392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47472" y="1143000"/>
            <a:ext cx="2670048" cy="3493008"/>
          </a:xfrm>
          <a:prstGeom prst="rect">
            <a:avLst>
              <a:gd name="adj" fmla="val 1712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143000"/>
            <a:ext cx="2670048" cy="5486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" y="121615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Term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(0–3 months)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" y="1645920"/>
            <a:ext cx="2377440" cy="22860"/>
          </a:xfrm>
          <a:prstGeom prst="rect">
            <a:avLst/>
          </a:prstGeom>
          <a:solidFill>
            <a:srgbClr val="D1D9E6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1755648"/>
            <a:ext cx="91440" cy="9144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1709928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platform coverage to include TikTok and Twitter/X via their respective APIs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2715768"/>
            <a:ext cx="91440" cy="9144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" y="2670048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real-time streaming pipeline using Apache Kafka for continuous metric ingestion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3675888"/>
            <a:ext cx="91440" cy="9144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630168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NLP model with fine-tuned BERT embeddings for higher sentiment accuracy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82112" y="1143000"/>
            <a:ext cx="2670048" cy="3493008"/>
          </a:xfrm>
          <a:prstGeom prst="rect">
            <a:avLst>
              <a:gd name="adj" fmla="val 1712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2112" y="1143000"/>
            <a:ext cx="2670048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3319272" y="121615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Term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(3–6 months)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19272" y="1645920"/>
            <a:ext cx="2377440" cy="22860"/>
          </a:xfrm>
          <a:prstGeom prst="rect">
            <a:avLst/>
          </a:prstGeom>
          <a:solidFill>
            <a:srgbClr val="D1D9E6"/>
          </a:solidFill>
          <a:ln/>
        </p:spPr>
      </p:sp>
      <p:sp>
        <p:nvSpPr>
          <p:cNvPr id="23" name="Shape 21"/>
          <p:cNvSpPr/>
          <p:nvPr/>
        </p:nvSpPr>
        <p:spPr>
          <a:xfrm>
            <a:off x="3337560" y="1755648"/>
            <a:ext cx="91440" cy="914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3511296" y="1709928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multi-account aggregated dashboard for agency or team use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37560" y="2715768"/>
            <a:ext cx="91440" cy="914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3511296" y="2670048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audience segmentation — different VC models per demographic cluster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37560" y="3675888"/>
            <a:ext cx="91440" cy="914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8" name="Text 26"/>
          <p:cNvSpPr/>
          <p:nvPr/>
        </p:nvSpPr>
        <p:spPr>
          <a:xfrm>
            <a:off x="3511296" y="3630168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automated thumbnail A/B testing using computer vision (OpenCV) features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16752" y="1143000"/>
            <a:ext cx="2670048" cy="3493008"/>
          </a:xfrm>
          <a:prstGeom prst="rect">
            <a:avLst>
              <a:gd name="adj" fmla="val 1712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16752" y="1143000"/>
            <a:ext cx="2670048" cy="54864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31" name="Text 29"/>
          <p:cNvSpPr/>
          <p:nvPr/>
        </p:nvSpPr>
        <p:spPr>
          <a:xfrm>
            <a:off x="6153912" y="121615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(6–12 months)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53912" y="1645920"/>
            <a:ext cx="2377440" cy="22860"/>
          </a:xfrm>
          <a:prstGeom prst="rect">
            <a:avLst/>
          </a:prstGeom>
          <a:solidFill>
            <a:srgbClr val="D1D9E6"/>
          </a:solidFill>
          <a:ln/>
        </p:spPr>
      </p:sp>
      <p:sp>
        <p:nvSpPr>
          <p:cNvPr id="33" name="Shape 31"/>
          <p:cNvSpPr/>
          <p:nvPr/>
        </p:nvSpPr>
        <p:spPr>
          <a:xfrm>
            <a:off x="6172200" y="1755648"/>
            <a:ext cx="91440" cy="91440"/>
          </a:xfrm>
          <a:prstGeom prst="ellipse">
            <a:avLst/>
          </a:prstGeom>
          <a:solidFill>
            <a:srgbClr val="1A7A4A"/>
          </a:solidFill>
          <a:ln/>
        </p:spPr>
      </p:sp>
      <p:sp>
        <p:nvSpPr>
          <p:cNvPr id="34" name="Text 32"/>
          <p:cNvSpPr/>
          <p:nvPr/>
        </p:nvSpPr>
        <p:spPr>
          <a:xfrm>
            <a:off x="6345936" y="1709928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content generation assistant that suggests caption and hook text based on top-VC templates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72200" y="2715768"/>
            <a:ext cx="91440" cy="91440"/>
          </a:xfrm>
          <a:prstGeom prst="ellipse">
            <a:avLst/>
          </a:prstGeom>
          <a:solidFill>
            <a:srgbClr val="1A7A4A"/>
          </a:solidFill>
          <a:ln/>
        </p:spPr>
      </p:sp>
      <p:sp>
        <p:nvSpPr>
          <p:cNvPr id="36" name="Text 34"/>
          <p:cNvSpPr/>
          <p:nvPr/>
        </p:nvSpPr>
        <p:spPr>
          <a:xfrm>
            <a:off x="6345936" y="2670048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the system as a SaaS micro-tool deployable via Docker with a React frontend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72200" y="3675888"/>
            <a:ext cx="91440" cy="91440"/>
          </a:xfrm>
          <a:prstGeom prst="ellipse">
            <a:avLst/>
          </a:prstGeom>
          <a:solidFill>
            <a:srgbClr val="1A7A4A"/>
          </a:solidFill>
          <a:ln/>
        </p:spPr>
      </p:sp>
      <p:sp>
        <p:nvSpPr>
          <p:cNvPr id="38" name="Text 36"/>
          <p:cNvSpPr/>
          <p:nvPr/>
        </p:nvSpPr>
        <p:spPr>
          <a:xfrm>
            <a:off x="6345936" y="3630168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dataset and findings as an open research contribution on Kaggle / arXiv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47472" y="4617720"/>
            <a:ext cx="8412480" cy="256032"/>
          </a:xfrm>
          <a:prstGeom prst="rect">
            <a:avLst>
              <a:gd name="adj" fmla="val 10714"/>
            </a:avLst>
          </a:prstGeom>
          <a:solidFill>
            <a:srgbClr val="EBF2FA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4663440"/>
            <a:ext cx="8138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Limitation: The system currently processes only English-language comments. Multilingual support is planned in the short-term roadmap.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18288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420624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Deliverables &amp; Learning Outcomes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1014984"/>
            <a:ext cx="1097280" cy="3200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9651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Social Engagement Initiative  ·  Gaurav  ·  Unlox Academy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50392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47472" y="1188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1508760"/>
            <a:ext cx="4114800" cy="566928"/>
          </a:xfrm>
          <a:prstGeom prst="rect">
            <a:avLst/>
          </a:prstGeom>
          <a:solidFill>
            <a:srgbClr val="EBF2FA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1508760"/>
            <a:ext cx="475488" cy="5669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" y="1508760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1572768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14400" y="1783080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Tableau app visualising growth, sentiment, and VC metrics in real time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7472" y="2121408"/>
            <a:ext cx="4114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2121408"/>
            <a:ext cx="475488" cy="5669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2121408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2185416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Dataset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4400" y="239572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Cleaned, documented MySQL database with 6 normalised tables and ERD diagram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47472" y="2734056"/>
            <a:ext cx="4114800" cy="566928"/>
          </a:xfrm>
          <a:prstGeom prst="rect">
            <a:avLst/>
          </a:prstGeom>
          <a:solidFill>
            <a:srgbClr val="EBF2FA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2734056"/>
            <a:ext cx="475488" cy="5669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2734056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" y="2798064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Sentiment Model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14400" y="3008376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 tagging comments with 87.4% accuracy; includes evaluation report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7472" y="3346704"/>
            <a:ext cx="4114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" y="3346704"/>
            <a:ext cx="475488" cy="5669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" y="3346704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14400" y="3410712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Report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14400" y="3621024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significance results across 5 content variables with recommendations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47472" y="3959352"/>
            <a:ext cx="4114800" cy="566928"/>
          </a:xfrm>
          <a:prstGeom prst="rect">
            <a:avLst/>
          </a:prstGeom>
          <a:solidFill>
            <a:srgbClr val="EBF2FA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" y="3959352"/>
            <a:ext cx="475488" cy="5669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2" name="Text 30"/>
          <p:cNvSpPr/>
          <p:nvPr/>
        </p:nvSpPr>
        <p:spPr>
          <a:xfrm>
            <a:off x="347472" y="3959352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14400" y="4023360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Report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14400" y="4233672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8-page data-backed report identifying top topics, formats, and posting strategies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663440" y="1188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Skills Developed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663440" y="1508760"/>
            <a:ext cx="4114800" cy="512064"/>
          </a:xfrm>
          <a:prstGeom prst="rect">
            <a:avLst/>
          </a:prstGeom>
          <a:solidFill>
            <a:srgbClr val="EBF2FA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1508760"/>
            <a:ext cx="54864" cy="51206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8" name="Text 36"/>
          <p:cNvSpPr/>
          <p:nvPr/>
        </p:nvSpPr>
        <p:spPr>
          <a:xfrm>
            <a:off x="4791456" y="156362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91456" y="176479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integration, web scraping, ETL pipeline design, database normalisation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63440" y="2075688"/>
            <a:ext cx="41148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3440" y="2075688"/>
            <a:ext cx="54864" cy="51206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2" name="Text 40"/>
          <p:cNvSpPr/>
          <p:nvPr/>
        </p:nvSpPr>
        <p:spPr>
          <a:xfrm>
            <a:off x="4791456" y="213055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91456" y="233172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Classification, feature engineering, model evaluation (Precision, Recall, F1)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663440" y="2642616"/>
            <a:ext cx="4114800" cy="512064"/>
          </a:xfrm>
          <a:prstGeom prst="rect">
            <a:avLst/>
          </a:prstGeom>
          <a:solidFill>
            <a:srgbClr val="EBF2FA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63440" y="2642616"/>
            <a:ext cx="54864" cy="51206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6" name="Text 44"/>
          <p:cNvSpPr/>
          <p:nvPr/>
        </p:nvSpPr>
        <p:spPr>
          <a:xfrm>
            <a:off x="4791456" y="269748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791456" y="289864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Tokenization, sentiment scoring, custom lexicon creation, SMOTE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663440" y="3209544"/>
            <a:ext cx="41148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63440" y="3209544"/>
            <a:ext cx="54864" cy="51206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50" name="Text 48"/>
          <p:cNvSpPr/>
          <p:nvPr/>
        </p:nvSpPr>
        <p:spPr>
          <a:xfrm>
            <a:off x="4791456" y="32644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791456" y="346557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testing, p-value interpretation, A/B experiment design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663440" y="3776472"/>
            <a:ext cx="4114800" cy="512064"/>
          </a:xfrm>
          <a:prstGeom prst="rect">
            <a:avLst/>
          </a:prstGeom>
          <a:solidFill>
            <a:srgbClr val="EBF2FA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63440" y="3776472"/>
            <a:ext cx="54864" cy="51206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54" name="Text 52"/>
          <p:cNvSpPr/>
          <p:nvPr/>
        </p:nvSpPr>
        <p:spPr>
          <a:xfrm>
            <a:off x="4791456" y="383133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Visualisation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791456" y="403250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dashboards, Matplotlib/Seaborn charts, Streamlit web apps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663440" y="4343400"/>
            <a:ext cx="41148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663440" y="4343400"/>
            <a:ext cx="54864" cy="51206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58" name="Text 56"/>
          <p:cNvSpPr/>
          <p:nvPr/>
        </p:nvSpPr>
        <p:spPr>
          <a:xfrm>
            <a:off x="4791456" y="439826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Reporting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791456" y="45994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reports, ERD diagrams, academic-style documentation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"/>
            <a:ext cx="347472" cy="5093208"/>
          </a:xfrm>
          <a:prstGeom prst="rect">
            <a:avLst/>
          </a:prstGeom>
          <a:solidFill>
            <a:srgbClr val="2C477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Data-Driven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02920" y="1207008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8B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Engagement Initiative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5943600" cy="22860"/>
          </a:xfrm>
          <a:prstGeom prst="rect">
            <a:avLst/>
          </a:prstGeom>
          <a:solidFill>
            <a:srgbClr val="2C477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57400"/>
            <a:ext cx="53035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C5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that social media engagement is not random — it follows measurable statistical patterns. By combining data engineering, NLP, and machine learning into a unified pipeline, we can systematically identify what connects with audiences and predict viral content with high confidence.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C5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methodology, tools, and findings presented here form a practical, production-ready framework applicable to any content creator, brand, or digital marketer operating in today's data-rich social environment.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3584448"/>
            <a:ext cx="2011680" cy="310896"/>
          </a:xfrm>
          <a:prstGeom prst="rect">
            <a:avLst>
              <a:gd name="adj" fmla="val 11765"/>
            </a:avLst>
          </a:prstGeom>
          <a:solidFill>
            <a:srgbClr val="2C4770"/>
          </a:solidFill>
          <a:ln w="12700">
            <a:solidFill>
              <a:srgbClr val="3A60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593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Modules Built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51760" y="3584448"/>
            <a:ext cx="2011680" cy="310896"/>
          </a:xfrm>
          <a:prstGeom prst="rect">
            <a:avLst>
              <a:gd name="adj" fmla="val 11765"/>
            </a:avLst>
          </a:prstGeom>
          <a:solidFill>
            <a:srgbClr val="2C4770"/>
          </a:solidFill>
          <a:ln w="12700">
            <a:solidFill>
              <a:srgbClr val="3A60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3593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87.4% NLP Accuracy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00600" y="3584448"/>
            <a:ext cx="2011680" cy="310896"/>
          </a:xfrm>
          <a:prstGeom prst="rect">
            <a:avLst>
              <a:gd name="adj" fmla="val 11765"/>
            </a:avLst>
          </a:prstGeom>
          <a:solidFill>
            <a:srgbClr val="2C4770"/>
          </a:solidFill>
          <a:ln w="12700">
            <a:solidFill>
              <a:srgbClr val="3A6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3593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8-Week Test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949440" y="3584448"/>
            <a:ext cx="2011680" cy="310896"/>
          </a:xfrm>
          <a:prstGeom prst="rect">
            <a:avLst>
              <a:gd name="adj" fmla="val 11765"/>
            </a:avLst>
          </a:prstGeom>
          <a:solidFill>
            <a:srgbClr val="2C4770"/>
          </a:solidFill>
          <a:ln w="12700">
            <a:solidFill>
              <a:srgbClr val="3A60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3593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Deliverables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4041648"/>
            <a:ext cx="5943600" cy="749808"/>
          </a:xfrm>
          <a:prstGeom prst="rect">
            <a:avLst>
              <a:gd name="adj" fmla="val 6098"/>
            </a:avLst>
          </a:prstGeom>
          <a:solidFill>
            <a:srgbClr val="2C4770"/>
          </a:solidFill>
          <a:ln w="12700">
            <a:solidFill>
              <a:srgbClr val="3A60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409651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58368" y="427024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8368" y="449884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gauravganeshteegulla@gmail.com  ·  Unlox Academy  ·  Data Science &amp; Analytics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5294A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965192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Open to Questions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412480" y="4965192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8FAF"/>
                </a:solidFill>
              </a:rPr>
              <a:t>16 / 16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Data-Driven Social Engagement Initiative</dc:title>
  <dc:subject>PptxGenJS Presentation</dc:subject>
  <dc:creator>Gaurav | Unlox Academy</dc:creator>
  <cp:lastModifiedBy>Gaurav | Unlox Academy</cp:lastModifiedBy>
  <cp:revision>1</cp:revision>
  <dcterms:created xsi:type="dcterms:W3CDTF">2026-05-15T15:57:26Z</dcterms:created>
  <dcterms:modified xsi:type="dcterms:W3CDTF">2026-05-15T15:57:26Z</dcterms:modified>
</cp:coreProperties>
</file>